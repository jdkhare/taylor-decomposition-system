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</p:sldMasterIdLst>
  <p:notesMasterIdLst>
    <p:notesMasterId r:id="rId24"/>
  </p:notesMasterIdLst>
  <p:handoutMasterIdLst>
    <p:handoutMasterId r:id="rId25"/>
  </p:handoutMasterIdLst>
  <p:sldIdLst>
    <p:sldId id="256" r:id="rId3"/>
    <p:sldId id="272" r:id="rId4"/>
    <p:sldId id="259" r:id="rId5"/>
    <p:sldId id="260" r:id="rId6"/>
    <p:sldId id="261" r:id="rId7"/>
    <p:sldId id="257" r:id="rId8"/>
    <p:sldId id="278" r:id="rId9"/>
    <p:sldId id="279" r:id="rId10"/>
    <p:sldId id="280" r:id="rId11"/>
    <p:sldId id="285" r:id="rId12"/>
    <p:sldId id="281" r:id="rId13"/>
    <p:sldId id="265" r:id="rId14"/>
    <p:sldId id="266" r:id="rId15"/>
    <p:sldId id="282" r:id="rId16"/>
    <p:sldId id="267" r:id="rId17"/>
    <p:sldId id="269" r:id="rId18"/>
    <p:sldId id="283" r:id="rId19"/>
    <p:sldId id="284" r:id="rId20"/>
    <p:sldId id="271" r:id="rId21"/>
    <p:sldId id="270" r:id="rId22"/>
    <p:sldId id="268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8F8F8"/>
    <a:srgbClr val="FFFFFF"/>
    <a:srgbClr val="DDDDDD"/>
    <a:srgbClr val="CC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930" y="-96"/>
      </p:cViewPr>
      <p:guideLst>
        <p:guide orient="horz" pos="2880"/>
        <p:guide pos="2160"/>
      </p:guideLst>
    </p:cSldViewPr>
  </p:notes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D4916-CA09-4DD0-B628-329FF509213F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FFB58-028E-4A7E-A63D-424F715B76D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B9B9F-64EA-4749-B0E4-46376C2D60FE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C6BE7-84E5-40A0-A894-B6E95EB93A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C63AEC-ABE5-4D3A-9328-24938FE1087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C63AEC-ABE5-4D3A-9328-24938FE1087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C63AEC-ABE5-4D3A-9328-24938FE1087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C63AEC-ABE5-4D3A-9328-24938FE1087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C6BE7-84E5-40A0-A894-B6E95EB93AC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wmf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08" name="Picture 1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2133600" y="2632075"/>
            <a:ext cx="4267200" cy="4225925"/>
          </a:xfrm>
          <a:prstGeom prst="rect">
            <a:avLst/>
          </a:prstGeom>
          <a:noFill/>
        </p:spPr>
      </p:pic>
      <p:sp>
        <p:nvSpPr>
          <p:cNvPr id="33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790700" y="3124200"/>
            <a:ext cx="55626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 sz="2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43000" y="1447800"/>
            <a:ext cx="6858000" cy="1143000"/>
          </a:xfrm>
        </p:spPr>
        <p:txBody>
          <a:bodyPr/>
          <a:lstStyle>
            <a:lvl1pPr algn="ctr">
              <a:defRPr sz="47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6156325" y="5943600"/>
            <a:ext cx="30130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1676400" y="830263"/>
            <a:ext cx="1219200" cy="473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762000"/>
          </a:xfrm>
          <a:prstGeom prst="rect">
            <a:avLst/>
          </a:prstGeom>
          <a:noFill/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7013" y="357188"/>
            <a:ext cx="3049587" cy="404812"/>
          </a:xfrm>
          <a:prstGeom prst="rect">
            <a:avLst/>
          </a:prstGeom>
          <a:noFill/>
        </p:spPr>
      </p:pic>
      <p:pic>
        <p:nvPicPr>
          <p:cNvPr id="3380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6096000"/>
            <a:ext cx="9144000" cy="774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152400" y="6172200"/>
            <a:ext cx="1894366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400" dirty="0" smtClean="0">
                <a:latin typeface="Verdana" charset="0"/>
              </a:rPr>
              <a:t>TDS-TED summary</a:t>
            </a:r>
            <a:endParaRPr lang="en-US" sz="1400" dirty="0">
              <a:latin typeface="Verdana" charset="0"/>
            </a:endParaRPr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0" y="60960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1371600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4200" y="609600"/>
            <a:ext cx="22098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4770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+ 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3470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 hasCustomPrompt="1"/>
          </p:nvPr>
        </p:nvSpPr>
        <p:spPr>
          <a:xfrm>
            <a:off x="301752" y="1247775"/>
            <a:ext cx="4038600" cy="5029200"/>
          </a:xfrm>
        </p:spPr>
        <p:txBody>
          <a:bodyPr/>
          <a:lstStyle>
            <a:lvl1pPr>
              <a:defRPr sz="2500"/>
            </a:lvl1pPr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 eaLnBrk="1" latinLnBrk="0" hangingPunct="1"/>
            <a:r>
              <a:rPr lang="en-US" dirty="0" smtClean="0"/>
              <a:t>Click to edit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 hasCustomPrompt="1"/>
          </p:nvPr>
        </p:nvSpPr>
        <p:spPr>
          <a:xfrm>
            <a:off x="4800600" y="1247775"/>
            <a:ext cx="4038600" cy="5029200"/>
          </a:xfrm>
        </p:spPr>
        <p:txBody>
          <a:bodyPr/>
          <a:lstStyle>
            <a:lvl1pPr>
              <a:defRPr sz="2500"/>
            </a:lvl1pPr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 eaLnBrk="1" latinLnBrk="0" hangingPunct="1"/>
            <a:r>
              <a:rPr lang="en-US" dirty="0" smtClean="0"/>
              <a:t>Click to edit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4" name="Slide Number Placeholder 22"/>
          <p:cNvSpPr txBox="1">
            <a:spLocks/>
          </p:cNvSpPr>
          <p:nvPr/>
        </p:nvSpPr>
        <p:spPr>
          <a:xfrm>
            <a:off x="2414600" y="6444140"/>
            <a:ext cx="613104" cy="309563"/>
          </a:xfrm>
          <a:prstGeom prst="rect">
            <a:avLst/>
          </a:prstGeom>
        </p:spPr>
        <p:txBody>
          <a:bodyPr vert="horz" lIns="91440" rIns="91440" anchor="ctr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C179E-9659-4C3E-B390-1E162114F2D5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4372"/>
            <a:ext cx="8534400" cy="595704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to Edit Title</a:t>
            </a:r>
            <a:endParaRPr kumimoji="0" lang="en-US" dirty="0"/>
          </a:p>
        </p:txBody>
      </p:sp>
      <p:sp>
        <p:nvSpPr>
          <p:cNvPr id="7" name="Slide Number Placeholder 22"/>
          <p:cNvSpPr txBox="1">
            <a:spLocks/>
          </p:cNvSpPr>
          <p:nvPr userDrawn="1"/>
        </p:nvSpPr>
        <p:spPr>
          <a:xfrm>
            <a:off x="2414600" y="6444140"/>
            <a:ext cx="613104" cy="309563"/>
          </a:xfrm>
          <a:prstGeom prst="rect">
            <a:avLst/>
          </a:prstGeom>
        </p:spPr>
        <p:txBody>
          <a:bodyPr vert="horz" lIns="91440" rIns="91440" anchor="ctr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C179E-9659-4C3E-B390-1E162114F2D5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453187" y="715967"/>
            <a:ext cx="2389187" cy="355600"/>
          </a:xfrm>
        </p:spPr>
        <p:txBody>
          <a:bodyPr>
            <a:noAutofit/>
          </a:bodyPr>
          <a:lstStyle>
            <a:lvl1pPr>
              <a:buNone/>
              <a:defRPr sz="1600" cap="sm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5pPr algn="l">
              <a:buFontTx/>
              <a:buNone/>
              <a:defRPr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Subtitle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000626" y="666750"/>
            <a:ext cx="4143374" cy="571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153400" cy="449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8392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6156325" y="5943600"/>
            <a:ext cx="30130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6" name="Line 22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73" name="Picture 49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9144000" cy="457200"/>
          </a:xfrm>
          <a:prstGeom prst="rect">
            <a:avLst/>
          </a:prstGeom>
          <a:noFill/>
        </p:spPr>
      </p:pic>
      <p:pic>
        <p:nvPicPr>
          <p:cNvPr id="1074" name="Picture 50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52400" y="114300"/>
            <a:ext cx="2592388" cy="342900"/>
          </a:xfrm>
          <a:prstGeom prst="rect">
            <a:avLst/>
          </a:prstGeom>
          <a:noFill/>
        </p:spPr>
      </p:pic>
      <p:pic>
        <p:nvPicPr>
          <p:cNvPr id="1075" name="Picture 51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6096000"/>
            <a:ext cx="9144000" cy="774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76" name="Text Box 52"/>
          <p:cNvSpPr txBox="1">
            <a:spLocks noChangeArrowheads="1"/>
          </p:cNvSpPr>
          <p:nvPr/>
        </p:nvSpPr>
        <p:spPr bwMode="auto">
          <a:xfrm>
            <a:off x="8382000" y="6172200"/>
            <a:ext cx="609600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A4C83D87-C41E-4112-B60C-6BB7EE84546F}" type="slidenum">
              <a:rPr lang="en-US" sz="1400">
                <a:latin typeface="Verdana" charset="0"/>
              </a:rPr>
              <a:pPr>
                <a:spcBef>
                  <a:spcPct val="50000"/>
                </a:spcBef>
              </a:pPr>
              <a:t>‹#›</a:t>
            </a:fld>
            <a:endParaRPr lang="en-US" b="1">
              <a:solidFill>
                <a:srgbClr val="336699"/>
              </a:solidFill>
              <a:latin typeface="Verdana" charset="0"/>
            </a:endParaRPr>
          </a:p>
        </p:txBody>
      </p:sp>
      <p:sp>
        <p:nvSpPr>
          <p:cNvPr id="1078" name="Line 54"/>
          <p:cNvSpPr>
            <a:spLocks noChangeShapeType="1"/>
          </p:cNvSpPr>
          <p:nvPr/>
        </p:nvSpPr>
        <p:spPr bwMode="auto">
          <a:xfrm>
            <a:off x="0" y="60960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08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881C1C"/>
          </a:solidFill>
          <a:latin typeface="Georgi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Wingdings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3C34-884D-4D36-BF0A-BCE87E26BF62}" type="datetimeFigureOut">
              <a:rPr lang="en-US" smtClean="0"/>
              <a:pPr/>
              <a:t>8/27/2011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82E43-8379-4345-ADC2-99EC29E61B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13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32.pn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53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91000"/>
            <a:ext cx="5562600" cy="1752600"/>
          </a:xfrm>
        </p:spPr>
        <p:txBody>
          <a:bodyPr/>
          <a:lstStyle/>
          <a:p>
            <a:r>
              <a:rPr lang="en-US" sz="2400" dirty="0" smtClean="0"/>
              <a:t>Prepared by </a:t>
            </a:r>
          </a:p>
          <a:p>
            <a:r>
              <a:rPr lang="en-US" sz="2400" dirty="0" smtClean="0"/>
              <a:t>Daniel Gomez-Prado</a:t>
            </a:r>
          </a:p>
          <a:p>
            <a:endParaRPr lang="en-US" sz="2400" dirty="0" smtClean="0"/>
          </a:p>
          <a:p>
            <a:r>
              <a:rPr lang="en-US" sz="2400" dirty="0" smtClean="0"/>
              <a:t>Aug 10 - 2011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447800"/>
            <a:ext cx="8458200" cy="2438400"/>
          </a:xfrm>
        </p:spPr>
        <p:txBody>
          <a:bodyPr/>
          <a:lstStyle/>
          <a:p>
            <a:r>
              <a:rPr lang="en-US" dirty="0" smtClean="0"/>
              <a:t>A Framework for High Level Synthesis using TED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2400" dirty="0" smtClean="0"/>
              <a:t>(Taylor Expansion Diagram)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Introduction</a:t>
            </a:r>
          </a:p>
          <a:p>
            <a:pPr lvl="1"/>
            <a:r>
              <a:rPr lang="en-US" dirty="0" smtClean="0"/>
              <a:t>Overview of Taylor Expansion Diagrams (TED)</a:t>
            </a:r>
          </a:p>
          <a:p>
            <a:pPr lvl="1"/>
            <a:r>
              <a:rPr lang="en-US" dirty="0" smtClean="0"/>
              <a:t>Optimizing </a:t>
            </a:r>
            <a:r>
              <a:rPr lang="en-US" dirty="0" smtClean="0"/>
              <a:t>DFGs for HW Implementations</a:t>
            </a:r>
          </a:p>
          <a:p>
            <a:pPr lvl="1"/>
            <a:r>
              <a:rPr lang="en-US" dirty="0" smtClean="0"/>
              <a:t>Functional Retiming</a:t>
            </a:r>
          </a:p>
          <a:p>
            <a:pPr lvl="1"/>
            <a:r>
              <a:rPr lang="en-US" dirty="0" smtClean="0"/>
              <a:t>Computational Accuracy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Overview of the data structures used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Other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3"/>
          <p:cNvSpPr>
            <a:spLocks noChangeAspect="1"/>
          </p:cNvSpPr>
          <p:nvPr/>
        </p:nvSpPr>
        <p:spPr bwMode="auto">
          <a:xfrm>
            <a:off x="609600" y="5459413"/>
            <a:ext cx="1601788" cy="430212"/>
          </a:xfrm>
          <a:prstGeom prst="ellipse">
            <a:avLst/>
          </a:prstGeom>
          <a:solidFill>
            <a:srgbClr val="0070C0">
              <a:alpha val="6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18" name="Straight Connector 81"/>
          <p:cNvCxnSpPr>
            <a:cxnSpLocks noChangeShapeType="1"/>
            <a:stCxn id="8" idx="2"/>
          </p:cNvCxnSpPr>
          <p:nvPr/>
        </p:nvCxnSpPr>
        <p:spPr bwMode="auto">
          <a:xfrm rot="10800000" flipH="1">
            <a:off x="609600" y="3236913"/>
            <a:ext cx="790575" cy="2438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Straight Connector 83"/>
          <p:cNvCxnSpPr>
            <a:cxnSpLocks noChangeShapeType="1"/>
            <a:stCxn id="8" idx="6"/>
          </p:cNvCxnSpPr>
          <p:nvPr/>
        </p:nvCxnSpPr>
        <p:spPr bwMode="auto">
          <a:xfrm flipH="1" flipV="1">
            <a:off x="1400175" y="3236913"/>
            <a:ext cx="811213" cy="2438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" name="Straight Connector 43"/>
          <p:cNvCxnSpPr>
            <a:stCxn id="8" idx="1"/>
          </p:cNvCxnSpPr>
          <p:nvPr/>
        </p:nvCxnSpPr>
        <p:spPr>
          <a:xfrm rot="5400000" flipH="1" flipV="1">
            <a:off x="-2320" y="4121827"/>
            <a:ext cx="2247086" cy="55409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7"/>
          <p:cNvSpPr txBox="1">
            <a:spLocks noChangeArrowheads="1"/>
          </p:cNvSpPr>
          <p:nvPr/>
        </p:nvSpPr>
        <p:spPr bwMode="auto">
          <a:xfrm>
            <a:off x="700259" y="2996513"/>
            <a:ext cx="6399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DFG</a:t>
            </a:r>
            <a:r>
              <a:rPr lang="en-US" sz="1400" baseline="-25000" dirty="0">
                <a:cs typeface="Arial" pitchFamily="34" charset="0"/>
              </a:rPr>
              <a:t>1</a:t>
            </a:r>
            <a:endParaRPr lang="en-US" sz="1200" baseline="-25000" dirty="0">
              <a:cs typeface="Arial" pitchFamily="34" charset="0"/>
            </a:endParaRPr>
          </a:p>
        </p:txBody>
      </p:sp>
      <p:sp>
        <p:nvSpPr>
          <p:cNvPr id="24" name="TextBox 166"/>
          <p:cNvSpPr txBox="1">
            <a:spLocks noChangeArrowheads="1"/>
          </p:cNvSpPr>
          <p:nvPr/>
        </p:nvSpPr>
        <p:spPr bwMode="auto">
          <a:xfrm>
            <a:off x="349045" y="2536825"/>
            <a:ext cx="20893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cs typeface="Arial" pitchFamily="34" charset="0"/>
              </a:rPr>
              <a:t>Structural DFG</a:t>
            </a:r>
            <a:endParaRPr lang="en-US" sz="2000" dirty="0">
              <a:cs typeface="Arial" pitchFamily="34" charset="0"/>
            </a:endParaRPr>
          </a:p>
        </p:txBody>
      </p:sp>
      <p:sp>
        <p:nvSpPr>
          <p:cNvPr id="45" name="Title 4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CAD Flow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076832" y="3237470"/>
            <a:ext cx="348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Tree balancing</a:t>
            </a:r>
          </a:p>
          <a:p>
            <a:r>
              <a:rPr lang="en-US" sz="1400" dirty="0" smtClean="0"/>
              <a:t>Common sub-expression elimination</a:t>
            </a:r>
            <a:endParaRPr lang="en-US" sz="1400" dirty="0"/>
          </a:p>
        </p:txBody>
      </p:sp>
      <p:sp>
        <p:nvSpPr>
          <p:cNvPr id="49" name="TextBox 166"/>
          <p:cNvSpPr txBox="1">
            <a:spLocks noChangeArrowheads="1"/>
          </p:cNvSpPr>
          <p:nvPr/>
        </p:nvSpPr>
        <p:spPr bwMode="auto">
          <a:xfrm>
            <a:off x="673452" y="1371600"/>
            <a:ext cx="14382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cs typeface="Arial" pitchFamily="34" charset="0"/>
              </a:rPr>
              <a:t>Algorithm</a:t>
            </a:r>
            <a:endParaRPr lang="en-US" sz="2000" dirty="0">
              <a:cs typeface="Arial" pitchFamily="34" charset="0"/>
            </a:endParaRPr>
          </a:p>
        </p:txBody>
      </p:sp>
      <p:cxnSp>
        <p:nvCxnSpPr>
          <p:cNvPr id="53" name="Straight Arrow Connector 52"/>
          <p:cNvCxnSpPr>
            <a:stCxn id="49" idx="2"/>
            <a:endCxn id="24" idx="0"/>
          </p:cNvCxnSpPr>
          <p:nvPr/>
        </p:nvCxnSpPr>
        <p:spPr bwMode="auto">
          <a:xfrm rot="16200000" flipH="1">
            <a:off x="1010584" y="2153685"/>
            <a:ext cx="765115" cy="116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3064475" y="1767016"/>
            <a:ext cx="2804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Parsing and elaboration</a:t>
            </a:r>
          </a:p>
          <a:p>
            <a:r>
              <a:rPr lang="en-US" sz="1400" dirty="0" smtClean="0"/>
              <a:t>Compiler like optimizations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2594918" y="1359243"/>
            <a:ext cx="596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High Level Description of the design (VHDL, </a:t>
            </a:r>
            <a:r>
              <a:rPr lang="en-US" dirty="0" err="1" smtClean="0"/>
              <a:t>c++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619632" y="2916193"/>
            <a:ext cx="2120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Flow Graph</a:t>
            </a:r>
            <a:endParaRPr lang="en-US" dirty="0"/>
          </a:p>
        </p:txBody>
      </p:sp>
      <p:sp>
        <p:nvSpPr>
          <p:cNvPr id="70" name="Freeform 69"/>
          <p:cNvSpPr/>
          <p:nvPr/>
        </p:nvSpPr>
        <p:spPr bwMode="auto">
          <a:xfrm>
            <a:off x="1124465" y="4139513"/>
            <a:ext cx="556054" cy="45719"/>
          </a:xfrm>
          <a:custGeom>
            <a:avLst/>
            <a:gdLst>
              <a:gd name="connsiteX0" fmla="*/ 0 w 679622"/>
              <a:gd name="connsiteY0" fmla="*/ 0 h 154459"/>
              <a:gd name="connsiteX1" fmla="*/ 185352 w 679622"/>
              <a:gd name="connsiteY1" fmla="*/ 123567 h 154459"/>
              <a:gd name="connsiteX2" fmla="*/ 518984 w 679622"/>
              <a:gd name="connsiteY2" fmla="*/ 135924 h 154459"/>
              <a:gd name="connsiteX3" fmla="*/ 679622 w 679622"/>
              <a:gd name="connsiteY3" fmla="*/ 12356 h 15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22" h="154459">
                <a:moveTo>
                  <a:pt x="0" y="0"/>
                </a:moveTo>
                <a:cubicBezTo>
                  <a:pt x="49427" y="50456"/>
                  <a:pt x="98855" y="100913"/>
                  <a:pt x="185352" y="123567"/>
                </a:cubicBezTo>
                <a:cubicBezTo>
                  <a:pt x="271849" y="146221"/>
                  <a:pt x="436606" y="154459"/>
                  <a:pt x="518984" y="135924"/>
                </a:cubicBezTo>
                <a:cubicBezTo>
                  <a:pt x="601362" y="117389"/>
                  <a:pt x="640492" y="64872"/>
                  <a:pt x="679622" y="12356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2" name="Freeform 71"/>
          <p:cNvSpPr/>
          <p:nvPr/>
        </p:nvSpPr>
        <p:spPr bwMode="auto">
          <a:xfrm>
            <a:off x="852615" y="4930346"/>
            <a:ext cx="1087395" cy="135924"/>
          </a:xfrm>
          <a:custGeom>
            <a:avLst/>
            <a:gdLst>
              <a:gd name="connsiteX0" fmla="*/ 0 w 679622"/>
              <a:gd name="connsiteY0" fmla="*/ 0 h 154459"/>
              <a:gd name="connsiteX1" fmla="*/ 185352 w 679622"/>
              <a:gd name="connsiteY1" fmla="*/ 123567 h 154459"/>
              <a:gd name="connsiteX2" fmla="*/ 518984 w 679622"/>
              <a:gd name="connsiteY2" fmla="*/ 135924 h 154459"/>
              <a:gd name="connsiteX3" fmla="*/ 679622 w 679622"/>
              <a:gd name="connsiteY3" fmla="*/ 12356 h 15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22" h="154459">
                <a:moveTo>
                  <a:pt x="0" y="0"/>
                </a:moveTo>
                <a:cubicBezTo>
                  <a:pt x="49427" y="50456"/>
                  <a:pt x="98855" y="100913"/>
                  <a:pt x="185352" y="123567"/>
                </a:cubicBezTo>
                <a:cubicBezTo>
                  <a:pt x="271849" y="146221"/>
                  <a:pt x="436606" y="154459"/>
                  <a:pt x="518984" y="135924"/>
                </a:cubicBezTo>
                <a:cubicBezTo>
                  <a:pt x="601362" y="117389"/>
                  <a:pt x="640492" y="64872"/>
                  <a:pt x="679622" y="12356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19632" y="3855306"/>
            <a:ext cx="2593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High Level Synthesis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3076832" y="4176582"/>
            <a:ext cx="2980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Scheduling, Allocation, Binding</a:t>
            </a:r>
          </a:p>
          <a:p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2619632" y="4683209"/>
            <a:ext cx="323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Logic &amp; Physical Synthesis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3089189" y="5004486"/>
            <a:ext cx="2472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Library mapping, Routing</a:t>
            </a:r>
          </a:p>
          <a:p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2631989" y="5498755"/>
            <a:ext cx="572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possible Architectures reachable from DFG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81" name="Straight Connector 80"/>
          <p:cNvCxnSpPr/>
          <p:nvPr/>
        </p:nvCxnSpPr>
        <p:spPr bwMode="auto">
          <a:xfrm>
            <a:off x="1383957" y="3237470"/>
            <a:ext cx="1223319" cy="1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/>
          <p:nvPr/>
        </p:nvCxnSpPr>
        <p:spPr bwMode="auto">
          <a:xfrm>
            <a:off x="1692877" y="4139514"/>
            <a:ext cx="902042" cy="1235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Straight Connector 85"/>
          <p:cNvCxnSpPr/>
          <p:nvPr/>
        </p:nvCxnSpPr>
        <p:spPr bwMode="auto">
          <a:xfrm>
            <a:off x="1952368" y="4930346"/>
            <a:ext cx="642551" cy="1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2211861" y="5684108"/>
            <a:ext cx="395415" cy="1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Straight Arrow Connector 112"/>
          <p:cNvCxnSpPr/>
          <p:nvPr/>
        </p:nvCxnSpPr>
        <p:spPr bwMode="auto">
          <a:xfrm rot="5400000">
            <a:off x="-271378" y="4020173"/>
            <a:ext cx="2207169" cy="72529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5" name="TextBox 209"/>
          <p:cNvSpPr txBox="1">
            <a:spLocks noChangeArrowheads="1"/>
          </p:cNvSpPr>
          <p:nvPr/>
        </p:nvSpPr>
        <p:spPr bwMode="auto">
          <a:xfrm>
            <a:off x="805182" y="5498758"/>
            <a:ext cx="15382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Architecture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1"/>
          <p:cNvSpPr>
            <a:spLocks noChangeArrowheads="1"/>
          </p:cNvSpPr>
          <p:nvPr/>
        </p:nvSpPr>
        <p:spPr bwMode="auto">
          <a:xfrm>
            <a:off x="1796893" y="3531505"/>
            <a:ext cx="4863397" cy="13643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209"/>
          <p:cNvSpPr txBox="1">
            <a:spLocks noChangeArrowheads="1"/>
          </p:cNvSpPr>
          <p:nvPr/>
        </p:nvSpPr>
        <p:spPr bwMode="auto">
          <a:xfrm>
            <a:off x="1993155" y="4224993"/>
            <a:ext cx="1408334" cy="376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Architecture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val 3"/>
          <p:cNvSpPr>
            <a:spLocks noChangeAspect="1"/>
          </p:cNvSpPr>
          <p:nvPr/>
        </p:nvSpPr>
        <p:spPr bwMode="auto">
          <a:xfrm>
            <a:off x="2710060" y="3914692"/>
            <a:ext cx="1215548" cy="340471"/>
          </a:xfrm>
          <a:prstGeom prst="ellipse">
            <a:avLst/>
          </a:prstGeom>
          <a:solidFill>
            <a:srgbClr val="0070C0">
              <a:alpha val="6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18" name="Straight Connector 81"/>
          <p:cNvCxnSpPr>
            <a:cxnSpLocks noChangeShapeType="1"/>
            <a:stCxn id="8" idx="2"/>
          </p:cNvCxnSpPr>
          <p:nvPr/>
        </p:nvCxnSpPr>
        <p:spPr bwMode="auto">
          <a:xfrm rot="10800000" flipH="1">
            <a:off x="2710060" y="2155802"/>
            <a:ext cx="599943" cy="192975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Straight Connector 83"/>
          <p:cNvCxnSpPr>
            <a:cxnSpLocks noChangeShapeType="1"/>
            <a:stCxn id="8" idx="6"/>
          </p:cNvCxnSpPr>
          <p:nvPr/>
        </p:nvCxnSpPr>
        <p:spPr bwMode="auto">
          <a:xfrm flipH="1" flipV="1">
            <a:off x="3310003" y="2155802"/>
            <a:ext cx="615605" cy="192975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" name="Straight Connector 43"/>
          <p:cNvCxnSpPr>
            <a:stCxn id="8" idx="1"/>
          </p:cNvCxnSpPr>
          <p:nvPr/>
        </p:nvCxnSpPr>
        <p:spPr>
          <a:xfrm rot="5400000" flipH="1" flipV="1">
            <a:off x="2209141" y="2865137"/>
            <a:ext cx="1778348" cy="42048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7"/>
          <p:cNvSpPr txBox="1">
            <a:spLocks noChangeArrowheads="1"/>
          </p:cNvSpPr>
          <p:nvPr/>
        </p:nvSpPr>
        <p:spPr bwMode="auto">
          <a:xfrm>
            <a:off x="2995061" y="1810066"/>
            <a:ext cx="7072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DFG</a:t>
            </a:r>
            <a:r>
              <a:rPr lang="en-US" sz="1600" baseline="-25000" dirty="0">
                <a:cs typeface="Arial" pitchFamily="34" charset="0"/>
              </a:rPr>
              <a:t>1</a:t>
            </a:r>
            <a:endParaRPr lang="en-US" sz="1400" baseline="-25000" dirty="0">
              <a:cs typeface="Arial" pitchFamily="34" charset="0"/>
            </a:endParaRPr>
          </a:p>
        </p:txBody>
      </p:sp>
      <p:sp>
        <p:nvSpPr>
          <p:cNvPr id="9" name="Oval 8"/>
          <p:cNvSpPr>
            <a:spLocks noChangeAspect="1"/>
          </p:cNvSpPr>
          <p:nvPr/>
        </p:nvSpPr>
        <p:spPr bwMode="auto">
          <a:xfrm>
            <a:off x="4549646" y="4051635"/>
            <a:ext cx="1215548" cy="341727"/>
          </a:xfrm>
          <a:prstGeom prst="ellipse">
            <a:avLst/>
          </a:prstGeom>
          <a:solidFill>
            <a:srgbClr val="CC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16" name="Straight Connector 76"/>
          <p:cNvCxnSpPr>
            <a:cxnSpLocks noChangeShapeType="1"/>
            <a:stCxn id="9" idx="2"/>
          </p:cNvCxnSpPr>
          <p:nvPr/>
        </p:nvCxnSpPr>
        <p:spPr bwMode="auto">
          <a:xfrm rot="10800000" flipH="1">
            <a:off x="4549646" y="2741261"/>
            <a:ext cx="592715" cy="14812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" name="Straight Connector 78"/>
          <p:cNvCxnSpPr>
            <a:cxnSpLocks noChangeShapeType="1"/>
            <a:stCxn id="9" idx="6"/>
          </p:cNvCxnSpPr>
          <p:nvPr/>
        </p:nvCxnSpPr>
        <p:spPr bwMode="auto">
          <a:xfrm flipH="1" flipV="1">
            <a:off x="5143566" y="2741261"/>
            <a:ext cx="621628" cy="14812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8" name="Straight Connector 47"/>
          <p:cNvCxnSpPr>
            <a:stCxn id="9" idx="1"/>
          </p:cNvCxnSpPr>
          <p:nvPr/>
        </p:nvCxnSpPr>
        <p:spPr>
          <a:xfrm rot="5400000" flipH="1" flipV="1">
            <a:off x="4251360" y="3214293"/>
            <a:ext cx="1363686" cy="41108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7"/>
          <p:cNvSpPr txBox="1">
            <a:spLocks noChangeArrowheads="1"/>
          </p:cNvSpPr>
          <p:nvPr/>
        </p:nvSpPr>
        <p:spPr bwMode="auto">
          <a:xfrm>
            <a:off x="4715175" y="2330831"/>
            <a:ext cx="7072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tx2">
                    <a:lumMod val="95000"/>
                    <a:lumOff val="5000"/>
                  </a:schemeClr>
                </a:solidFill>
                <a:cs typeface="Arial" pitchFamily="34" charset="0"/>
              </a:rPr>
              <a:t>DFG</a:t>
            </a:r>
            <a:r>
              <a:rPr lang="en-US" sz="1600" baseline="-25000" dirty="0">
                <a:solidFill>
                  <a:schemeClr val="tx2">
                    <a:lumMod val="95000"/>
                    <a:lumOff val="5000"/>
                  </a:schemeClr>
                </a:solidFill>
                <a:cs typeface="Arial" pitchFamily="34" charset="0"/>
              </a:rPr>
              <a:t>2</a:t>
            </a:r>
          </a:p>
        </p:txBody>
      </p:sp>
      <p:sp>
        <p:nvSpPr>
          <p:cNvPr id="45" name="TextBox 209"/>
          <p:cNvSpPr txBox="1">
            <a:spLocks noChangeArrowheads="1"/>
          </p:cNvSpPr>
          <p:nvPr/>
        </p:nvSpPr>
        <p:spPr bwMode="auto">
          <a:xfrm>
            <a:off x="2714324" y="3947087"/>
            <a:ext cx="1153319" cy="336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Architecture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itl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some DFGs produce better Architectures</a:t>
            </a:r>
            <a:endParaRPr lang="en-US" dirty="0"/>
          </a:p>
        </p:txBody>
      </p:sp>
      <p:graphicFrame>
        <p:nvGraphicFramePr>
          <p:cNvPr id="57" name="Object 56"/>
          <p:cNvGraphicFramePr>
            <a:graphicFrameLocks noChangeAspect="1"/>
          </p:cNvGraphicFramePr>
          <p:nvPr/>
        </p:nvGraphicFramePr>
        <p:xfrm>
          <a:off x="2183541" y="1433368"/>
          <a:ext cx="1308400" cy="367270"/>
        </p:xfrm>
        <a:graphic>
          <a:graphicData uri="http://schemas.openxmlformats.org/presentationml/2006/ole">
            <p:oleObj spid="_x0000_s1026" name="Equation" r:id="rId4" imgW="723600" imgH="203040" progId="Equation.3">
              <p:embed/>
            </p:oleObj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4799561" y="1978775"/>
          <a:ext cx="2019300" cy="371475"/>
        </p:xfrm>
        <a:graphic>
          <a:graphicData uri="http://schemas.openxmlformats.org/presentationml/2006/ole">
            <p:oleObj spid="_x0000_s1027" name="Equation" r:id="rId5" imgW="1104840" imgH="203040" progId="Equation.3">
              <p:embed/>
            </p:oleObj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234778" y="2360123"/>
            <a:ext cx="1947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Minimum delay</a:t>
            </a:r>
          </a:p>
          <a:p>
            <a:r>
              <a:rPr lang="en-US" dirty="0" smtClean="0"/>
              <a:t>Requires:</a:t>
            </a:r>
          </a:p>
          <a:p>
            <a:r>
              <a:rPr lang="en-US" dirty="0" smtClean="0"/>
              <a:t>  2 MPYs</a:t>
            </a:r>
          </a:p>
          <a:p>
            <a:r>
              <a:rPr lang="en-US" dirty="0" smtClean="0"/>
              <a:t>  1 ADD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9016" y="2718469"/>
            <a:ext cx="1947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Minimum delay</a:t>
            </a:r>
          </a:p>
          <a:p>
            <a:r>
              <a:rPr lang="en-US" dirty="0" smtClean="0"/>
              <a:t>Requires:</a:t>
            </a:r>
          </a:p>
          <a:p>
            <a:r>
              <a:rPr lang="en-US" dirty="0" smtClean="0"/>
              <a:t>  1 MPY</a:t>
            </a:r>
          </a:p>
          <a:p>
            <a:r>
              <a:rPr lang="en-US" dirty="0" smtClean="0"/>
              <a:t>  2 ADDs</a:t>
            </a: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3534032" y="1692858"/>
            <a:ext cx="284206" cy="9885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Arrow Connector 66"/>
          <p:cNvCxnSpPr/>
          <p:nvPr/>
        </p:nvCxnSpPr>
        <p:spPr bwMode="auto">
          <a:xfrm>
            <a:off x="4213655" y="1952350"/>
            <a:ext cx="407773" cy="16063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8" name="&quot;No&quot; Symbol 67"/>
          <p:cNvSpPr/>
          <p:nvPr/>
        </p:nvSpPr>
        <p:spPr bwMode="auto">
          <a:xfrm>
            <a:off x="3867665" y="1742285"/>
            <a:ext cx="308919" cy="284206"/>
          </a:xfrm>
          <a:prstGeom prst="noSmoking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015945" y="1346869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automation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48031" y="5165124"/>
            <a:ext cx="6947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How do we find the best DFG?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How do we generate another functionally equivalent DFG?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Arrow Connector 55"/>
          <p:cNvCxnSpPr/>
          <p:nvPr/>
        </p:nvCxnSpPr>
        <p:spPr>
          <a:xfrm>
            <a:off x="3212757" y="2298357"/>
            <a:ext cx="696923" cy="51249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5236" y="1556951"/>
            <a:ext cx="37465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TED captures the functional representation of a DFG.</a:t>
            </a:r>
          </a:p>
          <a:p>
            <a:endParaRPr lang="en-US" dirty="0"/>
          </a:p>
          <a:p>
            <a:r>
              <a:rPr lang="en-US" dirty="0" smtClean="0"/>
              <a:t>TED can modify the DFG</a:t>
            </a:r>
          </a:p>
          <a:p>
            <a:r>
              <a:rPr lang="en-US" dirty="0" smtClean="0"/>
              <a:t>preserving its functionality.</a:t>
            </a:r>
            <a:endParaRPr lang="en-US" dirty="0"/>
          </a:p>
        </p:txBody>
      </p:sp>
      <p:grpSp>
        <p:nvGrpSpPr>
          <p:cNvPr id="2" name="Group 50"/>
          <p:cNvGrpSpPr/>
          <p:nvPr/>
        </p:nvGrpSpPr>
        <p:grpSpPr>
          <a:xfrm>
            <a:off x="2093479" y="1705233"/>
            <a:ext cx="4863397" cy="4290437"/>
            <a:chOff x="1265555" y="1031558"/>
            <a:chExt cx="6408738" cy="5421312"/>
          </a:xfrm>
        </p:grpSpPr>
        <p:sp>
          <p:nvSpPr>
            <p:cNvPr id="6" name="Oval 1"/>
            <p:cNvSpPr>
              <a:spLocks noChangeArrowheads="1"/>
            </p:cNvSpPr>
            <p:nvPr/>
          </p:nvSpPr>
          <p:spPr bwMode="auto">
            <a:xfrm>
              <a:off x="1265555" y="4728845"/>
              <a:ext cx="6408738" cy="172402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209"/>
            <p:cNvSpPr txBox="1">
              <a:spLocks noChangeArrowheads="1"/>
            </p:cNvSpPr>
            <p:nvPr/>
          </p:nvSpPr>
          <p:spPr bwMode="auto">
            <a:xfrm>
              <a:off x="1524179" y="5605123"/>
              <a:ext cx="1855831" cy="475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Architecture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" name="Group 74"/>
            <p:cNvGrpSpPr/>
            <p:nvPr/>
          </p:nvGrpSpPr>
          <p:grpSpPr>
            <a:xfrm>
              <a:off x="2468880" y="2725420"/>
              <a:ext cx="1714610" cy="2917825"/>
              <a:chOff x="3634740" y="2908300"/>
              <a:chExt cx="1714610" cy="2917825"/>
            </a:xfrm>
          </p:grpSpPr>
          <p:sp>
            <p:nvSpPr>
              <p:cNvPr id="8" name="Oval 3"/>
              <p:cNvSpPr>
                <a:spLocks noChangeAspect="1"/>
              </p:cNvSpPr>
              <p:nvPr/>
            </p:nvSpPr>
            <p:spPr bwMode="auto">
              <a:xfrm>
                <a:off x="3634740" y="5395913"/>
                <a:ext cx="1601788" cy="430212"/>
              </a:xfrm>
              <a:prstGeom prst="ellipse">
                <a:avLst/>
              </a:prstGeom>
              <a:solidFill>
                <a:srgbClr val="0070C0">
                  <a:alpha val="60000"/>
                </a:srgbClr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cxnSp>
            <p:nvCxnSpPr>
              <p:cNvPr id="18" name="Straight Connector 81"/>
              <p:cNvCxnSpPr>
                <a:cxnSpLocks noChangeShapeType="1"/>
                <a:stCxn id="8" idx="2"/>
              </p:cNvCxnSpPr>
              <p:nvPr/>
            </p:nvCxnSpPr>
            <p:spPr bwMode="auto">
              <a:xfrm rot="10800000" flipH="1">
                <a:off x="3634740" y="3173413"/>
                <a:ext cx="790575" cy="24384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" name="Straight Connector 83"/>
              <p:cNvCxnSpPr>
                <a:cxnSpLocks noChangeShapeType="1"/>
                <a:stCxn id="8" idx="6"/>
              </p:cNvCxnSpPr>
              <p:nvPr/>
            </p:nvCxnSpPr>
            <p:spPr bwMode="auto">
              <a:xfrm flipH="1" flipV="1">
                <a:off x="4425315" y="3173413"/>
                <a:ext cx="811213" cy="24384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4" name="Straight Connector 43"/>
              <p:cNvCxnSpPr>
                <a:stCxn id="8" idx="1"/>
              </p:cNvCxnSpPr>
              <p:nvPr/>
            </p:nvCxnSpPr>
            <p:spPr>
              <a:xfrm rot="5400000" flipH="1" flipV="1">
                <a:off x="3022820" y="4058327"/>
                <a:ext cx="2247086" cy="55409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57"/>
              <p:cNvSpPr txBox="1">
                <a:spLocks noChangeArrowheads="1"/>
              </p:cNvSpPr>
              <p:nvPr/>
            </p:nvSpPr>
            <p:spPr bwMode="auto">
              <a:xfrm>
                <a:off x="4417378" y="2908300"/>
                <a:ext cx="931972" cy="4277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accent2">
                        <a:lumMod val="50000"/>
                      </a:schemeClr>
                    </a:solidFill>
                    <a:cs typeface="Arial" pitchFamily="34" charset="0"/>
                  </a:rPr>
                  <a:t>DFG</a:t>
                </a:r>
                <a:r>
                  <a:rPr lang="en-US" sz="1600" baseline="-25000" dirty="0">
                    <a:cs typeface="Arial" pitchFamily="34" charset="0"/>
                  </a:rPr>
                  <a:t>1</a:t>
                </a:r>
                <a:endParaRPr lang="en-US" sz="1400" baseline="-25000" dirty="0">
                  <a:cs typeface="Arial" pitchFamily="34" charset="0"/>
                </a:endParaRPr>
              </a:p>
            </p:txBody>
          </p:sp>
        </p:grpSp>
        <p:grpSp>
          <p:nvGrpSpPr>
            <p:cNvPr id="4" name="Group 75"/>
            <p:cNvGrpSpPr/>
            <p:nvPr/>
          </p:nvGrpSpPr>
          <p:grpSpPr>
            <a:xfrm>
              <a:off x="3392805" y="3909695"/>
              <a:ext cx="1600200" cy="2246313"/>
              <a:chOff x="4558665" y="4092575"/>
              <a:chExt cx="1600200" cy="2246313"/>
            </a:xfrm>
          </p:grpSpPr>
          <p:grpSp>
            <p:nvGrpSpPr>
              <p:cNvPr id="5" name="Group 31"/>
              <p:cNvGrpSpPr>
                <a:grpSpLocks/>
              </p:cNvGrpSpPr>
              <p:nvPr/>
            </p:nvGrpSpPr>
            <p:grpSpPr bwMode="auto">
              <a:xfrm>
                <a:off x="4558665" y="4438650"/>
                <a:ext cx="1600200" cy="1900238"/>
                <a:chOff x="2094" y="2704"/>
                <a:chExt cx="1008" cy="1197"/>
              </a:xfrm>
            </p:grpSpPr>
            <p:sp>
              <p:nvSpPr>
                <p:cNvPr id="26" name="Oval 4"/>
                <p:cNvSpPr>
                  <a:spLocks noChangeAspect="1"/>
                </p:cNvSpPr>
                <p:nvPr/>
              </p:nvSpPr>
              <p:spPr bwMode="auto">
                <a:xfrm>
                  <a:off x="2094" y="3630"/>
                  <a:ext cx="1008" cy="271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7" name="Straight Connector 85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2094" y="2704"/>
                  <a:ext cx="501" cy="105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8" name="Straight Connector 87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596" y="2704"/>
                  <a:ext cx="503" cy="1056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46" name="Straight Connector 45"/>
              <p:cNvCxnSpPr>
                <a:stCxn id="26" idx="7"/>
              </p:cNvCxnSpPr>
              <p:nvPr/>
            </p:nvCxnSpPr>
            <p:spPr>
              <a:xfrm rot="16200000" flipV="1">
                <a:off x="4879893" y="4927050"/>
                <a:ext cx="1525406" cy="56385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68"/>
              <p:cNvSpPr txBox="1">
                <a:spLocks noChangeArrowheads="1"/>
              </p:cNvSpPr>
              <p:nvPr/>
            </p:nvSpPr>
            <p:spPr bwMode="auto">
              <a:xfrm>
                <a:off x="4985927" y="4092575"/>
                <a:ext cx="6864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cs typeface="Arial" pitchFamily="34" charset="0"/>
                  </a:rPr>
                  <a:t>DFG</a:t>
                </a:r>
                <a:r>
                  <a:rPr lang="en-US" sz="1600" baseline="-25000" dirty="0" smtClean="0">
                    <a:cs typeface="Arial" pitchFamily="34" charset="0"/>
                  </a:rPr>
                  <a:t>3</a:t>
                </a:r>
                <a:endParaRPr lang="en-US" sz="1600" baseline="-25000" dirty="0">
                  <a:cs typeface="Arial" pitchFamily="34" charset="0"/>
                </a:endParaRPr>
              </a:p>
            </p:txBody>
          </p:sp>
        </p:grpSp>
        <p:grpSp>
          <p:nvGrpSpPr>
            <p:cNvPr id="22" name="Group 53"/>
            <p:cNvGrpSpPr/>
            <p:nvPr/>
          </p:nvGrpSpPr>
          <p:grpSpPr>
            <a:xfrm>
              <a:off x="1325880" y="1031558"/>
              <a:ext cx="6311900" cy="4877752"/>
              <a:chOff x="1325880" y="1031558"/>
              <a:chExt cx="6311900" cy="4877752"/>
            </a:xfrm>
          </p:grpSpPr>
          <p:sp>
            <p:nvSpPr>
              <p:cNvPr id="42" name="Arc 41"/>
              <p:cNvSpPr/>
              <p:nvPr/>
            </p:nvSpPr>
            <p:spPr bwMode="auto">
              <a:xfrm>
                <a:off x="3647440" y="1976120"/>
                <a:ext cx="1611313" cy="422275"/>
              </a:xfrm>
              <a:prstGeom prst="arc">
                <a:avLst>
                  <a:gd name="adj1" fmla="val 10778501"/>
                  <a:gd name="adj2" fmla="val 21558733"/>
                </a:avLst>
              </a:prstGeom>
              <a:noFill/>
              <a:ln w="9525" cap="flat" cmpd="sng" algn="ctr">
                <a:solidFill>
                  <a:schemeClr val="bg1">
                    <a:lumMod val="9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24" name="Group 52"/>
              <p:cNvGrpSpPr/>
              <p:nvPr/>
            </p:nvGrpSpPr>
            <p:grpSpPr>
              <a:xfrm>
                <a:off x="1325880" y="1031558"/>
                <a:ext cx="6311900" cy="4877752"/>
                <a:chOff x="1325880" y="1031558"/>
                <a:chExt cx="6311900" cy="4877752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 rot="5400000">
                  <a:off x="531495" y="1971675"/>
                  <a:ext cx="4846320" cy="302895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15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07549" y="1649889"/>
                  <a:ext cx="4379912" cy="314325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" name="Straight Connector 18"/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3832543" y="1669733"/>
                  <a:ext cx="4443412" cy="3167062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41" name="Arc 40"/>
                <p:cNvSpPr/>
                <p:nvPr/>
              </p:nvSpPr>
              <p:spPr bwMode="auto">
                <a:xfrm>
                  <a:off x="3647440" y="1966595"/>
                  <a:ext cx="1611313" cy="422275"/>
                </a:xfrm>
                <a:prstGeom prst="arc">
                  <a:avLst>
                    <a:gd name="adj1" fmla="val 21599880"/>
                    <a:gd name="adj2" fmla="val 10820081"/>
                  </a:avLst>
                </a:prstGeom>
                <a:noFill/>
                <a:ln w="9525" cap="flat" cmpd="sng" algn="ctr">
                  <a:solidFill>
                    <a:schemeClr val="bg1">
                      <a:lumMod val="9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38" name="Straight Connector 37"/>
                <p:cNvCxnSpPr/>
                <p:nvPr/>
              </p:nvCxnSpPr>
              <p:spPr>
                <a:xfrm rot="16200000" flipH="1">
                  <a:off x="3577590" y="1954530"/>
                  <a:ext cx="3897630" cy="211455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77"/>
            <p:cNvGrpSpPr/>
            <p:nvPr/>
          </p:nvGrpSpPr>
          <p:grpSpPr>
            <a:xfrm>
              <a:off x="4892993" y="3336608"/>
              <a:ext cx="1601787" cy="2481262"/>
              <a:chOff x="6058853" y="3519488"/>
              <a:chExt cx="1601787" cy="2481262"/>
            </a:xfrm>
          </p:grpSpPr>
          <p:sp>
            <p:nvSpPr>
              <p:cNvPr id="9" name="Oval 8"/>
              <p:cNvSpPr>
                <a:spLocks noChangeAspect="1"/>
              </p:cNvSpPr>
              <p:nvPr/>
            </p:nvSpPr>
            <p:spPr bwMode="auto">
              <a:xfrm>
                <a:off x="6058853" y="5568950"/>
                <a:ext cx="1601787" cy="431800"/>
              </a:xfrm>
              <a:prstGeom prst="ellipse">
                <a:avLst/>
              </a:prstGeom>
              <a:solidFill>
                <a:srgbClr val="CC99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cxnSp>
            <p:nvCxnSpPr>
              <p:cNvPr id="16" name="Straight Connector 76"/>
              <p:cNvCxnSpPr>
                <a:cxnSpLocks noChangeShapeType="1"/>
                <a:stCxn id="9" idx="2"/>
              </p:cNvCxnSpPr>
              <p:nvPr/>
            </p:nvCxnSpPr>
            <p:spPr bwMode="auto">
              <a:xfrm rot="10800000" flipH="1">
                <a:off x="6058853" y="3913188"/>
                <a:ext cx="781050" cy="187166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7" name="Straight Connector 78"/>
              <p:cNvCxnSpPr>
                <a:cxnSpLocks noChangeShapeType="1"/>
                <a:stCxn id="9" idx="6"/>
              </p:cNvCxnSpPr>
              <p:nvPr/>
            </p:nvCxnSpPr>
            <p:spPr bwMode="auto">
              <a:xfrm flipH="1" flipV="1">
                <a:off x="6841490" y="3913188"/>
                <a:ext cx="819150" cy="187166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48" name="Straight Connector 47"/>
              <p:cNvCxnSpPr>
                <a:stCxn id="9" idx="1"/>
              </p:cNvCxnSpPr>
              <p:nvPr/>
            </p:nvCxnSpPr>
            <p:spPr>
              <a:xfrm rot="5400000" flipH="1" flipV="1">
                <a:off x="5702721" y="4499768"/>
                <a:ext cx="1723126" cy="5417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67"/>
              <p:cNvSpPr txBox="1">
                <a:spLocks noChangeArrowheads="1"/>
              </p:cNvSpPr>
              <p:nvPr/>
            </p:nvSpPr>
            <p:spPr bwMode="auto">
              <a:xfrm>
                <a:off x="6276972" y="3519488"/>
                <a:ext cx="999970" cy="4277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>
                    <a:cs typeface="Arial" pitchFamily="34" charset="0"/>
                  </a:rPr>
                  <a:t>DFG</a:t>
                </a:r>
                <a:r>
                  <a:rPr lang="en-US" sz="1600" baseline="-25000" dirty="0">
                    <a:cs typeface="Arial" pitchFamily="34" charset="0"/>
                  </a:rPr>
                  <a:t>2</a:t>
                </a:r>
              </a:p>
            </p:txBody>
          </p:sp>
        </p:grpSp>
        <p:grpSp>
          <p:nvGrpSpPr>
            <p:cNvPr id="29" name="Group 50"/>
            <p:cNvGrpSpPr/>
            <p:nvPr/>
          </p:nvGrpSpPr>
          <p:grpSpPr>
            <a:xfrm>
              <a:off x="3493135" y="2404745"/>
              <a:ext cx="1627188" cy="3027363"/>
              <a:chOff x="3493135" y="2404745"/>
              <a:chExt cx="1627188" cy="3027363"/>
            </a:xfrm>
          </p:grpSpPr>
          <p:sp>
            <p:nvSpPr>
              <p:cNvPr id="7" name="Oval 6"/>
              <p:cNvSpPr>
                <a:spLocks noChangeAspect="1"/>
              </p:cNvSpPr>
              <p:nvPr/>
            </p:nvSpPr>
            <p:spPr bwMode="auto">
              <a:xfrm>
                <a:off x="3505835" y="5000308"/>
                <a:ext cx="1600200" cy="431800"/>
              </a:xfrm>
              <a:prstGeom prst="ellipse">
                <a:avLst/>
              </a:prstGeom>
              <a:solidFill>
                <a:schemeClr val="accent3">
                  <a:lumMod val="75000"/>
                  <a:alpha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cxnSp>
            <p:nvCxnSpPr>
              <p:cNvPr id="20" name="Straight Connector 92"/>
              <p:cNvCxnSpPr>
                <a:cxnSpLocks noChangeShapeType="1"/>
              </p:cNvCxnSpPr>
              <p:nvPr/>
            </p:nvCxnSpPr>
            <p:spPr bwMode="auto">
              <a:xfrm flipH="1" flipV="1">
                <a:off x="4275773" y="2417445"/>
                <a:ext cx="844550" cy="281146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1" name="Straight Connector 94"/>
              <p:cNvCxnSpPr>
                <a:cxnSpLocks noChangeShapeType="1"/>
              </p:cNvCxnSpPr>
              <p:nvPr/>
            </p:nvCxnSpPr>
            <p:spPr bwMode="auto">
              <a:xfrm rot="5400000">
                <a:off x="2454116" y="3443764"/>
                <a:ext cx="2849563" cy="77152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0" name="Straight Connector 49"/>
              <p:cNvCxnSpPr>
                <a:stCxn id="7" idx="7"/>
              </p:cNvCxnSpPr>
              <p:nvPr/>
            </p:nvCxnSpPr>
            <p:spPr>
              <a:xfrm rot="16200000" flipV="1">
                <a:off x="3264495" y="3456348"/>
                <a:ext cx="2606093" cy="60830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209"/>
            <p:cNvSpPr txBox="1">
              <a:spLocks noChangeArrowheads="1"/>
            </p:cNvSpPr>
            <p:nvPr/>
          </p:nvSpPr>
          <p:spPr bwMode="auto">
            <a:xfrm>
              <a:off x="2474499" y="5253966"/>
              <a:ext cx="1519785" cy="424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</a:rPr>
                <a:t>Architecture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Box 166"/>
            <p:cNvSpPr txBox="1">
              <a:spLocks noChangeArrowheads="1"/>
            </p:cNvSpPr>
            <p:nvPr/>
          </p:nvSpPr>
          <p:spPr bwMode="auto">
            <a:xfrm>
              <a:off x="4184015" y="2130426"/>
              <a:ext cx="931972" cy="427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cs typeface="Arial" pitchFamily="34" charset="0"/>
                </a:rPr>
                <a:t>DFG</a:t>
              </a:r>
              <a:r>
                <a:rPr lang="en-US" sz="1600" baseline="-25000" dirty="0" smtClean="0">
                  <a:cs typeface="Arial" pitchFamily="34" charset="0"/>
                </a:rPr>
                <a:t>4</a:t>
              </a:r>
              <a:endParaRPr lang="en-US" sz="1400" baseline="-25000" dirty="0">
                <a:cs typeface="Arial" pitchFamily="34" charset="0"/>
              </a:endParaRPr>
            </a:p>
          </p:txBody>
        </p:sp>
      </p:grpSp>
      <p:sp>
        <p:nvSpPr>
          <p:cNvPr id="47" name="Titl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Taylor Expansion Diagrams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599406" y="1878226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TED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903809" y="2557849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 order 1</a:t>
            </a:r>
            <a:endParaRPr lang="en-US" dirty="0"/>
          </a:p>
        </p:txBody>
      </p:sp>
      <p:cxnSp>
        <p:nvCxnSpPr>
          <p:cNvPr id="53" name="Straight Arrow Connector 52"/>
          <p:cNvCxnSpPr>
            <a:stCxn id="23" idx="3"/>
            <a:endCxn id="51" idx="1"/>
          </p:cNvCxnSpPr>
          <p:nvPr/>
        </p:nvCxnSpPr>
        <p:spPr bwMode="auto">
          <a:xfrm flipV="1">
            <a:off x="5015455" y="2742515"/>
            <a:ext cx="1888354" cy="164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6879096" y="2990337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 order 2</a:t>
            </a:r>
            <a:endParaRPr lang="en-US" dirty="0"/>
          </a:p>
        </p:txBody>
      </p:sp>
      <p:cxnSp>
        <p:nvCxnSpPr>
          <p:cNvPr id="59" name="Straight Arrow Connector 58"/>
          <p:cNvCxnSpPr>
            <a:stCxn id="12" idx="3"/>
            <a:endCxn id="57" idx="1"/>
          </p:cNvCxnSpPr>
          <p:nvPr/>
        </p:nvCxnSpPr>
        <p:spPr bwMode="auto">
          <a:xfrm flipV="1">
            <a:off x="4307811" y="3175003"/>
            <a:ext cx="2571285" cy="4003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6866740" y="3509320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 order 3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6866740" y="3929450"/>
            <a:ext cx="20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 order 4</a:t>
            </a:r>
            <a:endParaRPr lang="en-US" dirty="0"/>
          </a:p>
        </p:txBody>
      </p:sp>
      <p:cxnSp>
        <p:nvCxnSpPr>
          <p:cNvPr id="65" name="Straight Arrow Connector 64"/>
          <p:cNvCxnSpPr>
            <a:stCxn id="13" idx="3"/>
            <a:endCxn id="62" idx="1"/>
          </p:cNvCxnSpPr>
          <p:nvPr/>
        </p:nvCxnSpPr>
        <p:spPr bwMode="auto">
          <a:xfrm flipV="1">
            <a:off x="5770603" y="3693986"/>
            <a:ext cx="1096137" cy="474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14" idx="3"/>
            <a:endCxn id="63" idx="1"/>
          </p:cNvCxnSpPr>
          <p:nvPr/>
        </p:nvCxnSpPr>
        <p:spPr bwMode="auto">
          <a:xfrm flipV="1">
            <a:off x="4552914" y="4114116"/>
            <a:ext cx="2313826" cy="284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2" name="Straight Arrow Connector 71"/>
          <p:cNvCxnSpPr>
            <a:stCxn id="49" idx="2"/>
            <a:endCxn id="51" idx="0"/>
          </p:cNvCxnSpPr>
          <p:nvPr/>
        </p:nvCxnSpPr>
        <p:spPr bwMode="auto">
          <a:xfrm rot="16200000" flipH="1">
            <a:off x="7769868" y="2402666"/>
            <a:ext cx="310291" cy="7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TED Graph Notation</a:t>
            </a:r>
            <a:endParaRPr lang="en-US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7932" y="3152143"/>
            <a:ext cx="1240565" cy="182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5"/>
          <p:cNvGrpSpPr/>
          <p:nvPr/>
        </p:nvGrpSpPr>
        <p:grpSpPr>
          <a:xfrm>
            <a:off x="181954" y="1489915"/>
            <a:ext cx="3994629" cy="1543688"/>
            <a:chOff x="960429" y="785580"/>
            <a:chExt cx="3994629" cy="1543688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88747" y="1690855"/>
              <a:ext cx="3966311" cy="638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960429" y="785580"/>
              <a:ext cx="28877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Follows Taylor decomposition:</a:t>
              </a:r>
              <a:endParaRPr lang="en-US" sz="1400" dirty="0"/>
            </a:p>
          </p:txBody>
        </p:sp>
      </p:grp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52374" y="4780910"/>
          <a:ext cx="482600" cy="419100"/>
        </p:xfrm>
        <a:graphic>
          <a:graphicData uri="http://schemas.openxmlformats.org/presentationml/2006/ole">
            <p:oleObj spid="_x0000_s2050" name="Equation" r:id="rId5" imgW="482400" imgH="419040" progId="Equation.3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601165" y="4874981"/>
          <a:ext cx="304800" cy="228600"/>
        </p:xfrm>
        <a:graphic>
          <a:graphicData uri="http://schemas.openxmlformats.org/presentationml/2006/ole">
            <p:oleObj spid="_x0000_s2051" name="Equation" r:id="rId6" imgW="304560" imgH="228600" progId="Equation.3">
              <p:embed/>
            </p:oleObj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9728" y="1901168"/>
            <a:ext cx="1385440" cy="539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378890" y="3181337"/>
          <a:ext cx="277811" cy="277811"/>
        </p:xfrm>
        <a:graphic>
          <a:graphicData uri="http://schemas.openxmlformats.org/presentationml/2006/ole">
            <p:oleObj spid="_x0000_s2052" name="Equation" r:id="rId8" imgW="164880" imgH="164880" progId="Equation.3">
              <p:embed/>
            </p:oleObj>
          </a:graphicData>
        </a:graphic>
      </p:graphicFrame>
      <p:pic>
        <p:nvPicPr>
          <p:cNvPr id="13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005384" y="1394471"/>
            <a:ext cx="1849286" cy="464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829947" y="3500051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Additive edge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5869459" y="3286897"/>
            <a:ext cx="543698" cy="1482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38060" y="4286250"/>
            <a:ext cx="1630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Multiplicative</a:t>
            </a:r>
          </a:p>
          <a:p>
            <a:r>
              <a:rPr lang="en-US" dirty="0" smtClean="0"/>
              <a:t>or linear edge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rot="10800000" flipV="1">
            <a:off x="7155181" y="4609070"/>
            <a:ext cx="345371" cy="20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6981568" y="1884539"/>
          <a:ext cx="2071472" cy="324231"/>
        </p:xfrm>
        <a:graphic>
          <a:graphicData uri="http://schemas.openxmlformats.org/presentationml/2006/ole">
            <p:oleObj spid="_x0000_s2054" name="Equation" r:id="rId10" imgW="1460160" imgH="228600" progId="Equation.3">
              <p:embed/>
            </p:oleObj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 rot="5400000">
            <a:off x="2811163" y="3713205"/>
            <a:ext cx="3150973" cy="15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559504" y="5358034"/>
            <a:ext cx="3740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 is a canonical data structure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55716" y="321702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FIG1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5207" y="154616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FIG2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TED Construction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491917" y="1239253"/>
            <a:ext cx="1660357" cy="5017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Content Placeholder 7"/>
          <p:cNvGraphicFramePr>
            <a:graphicFrameLocks noChangeAspect="1"/>
          </p:cNvGraphicFramePr>
          <p:nvPr>
            <p:ph sz="half" idx="4294967295"/>
          </p:nvPr>
        </p:nvGraphicFramePr>
        <p:xfrm>
          <a:off x="5183910" y="1806575"/>
          <a:ext cx="3117850" cy="500063"/>
        </p:xfrm>
        <a:graphic>
          <a:graphicData uri="http://schemas.openxmlformats.org/presentationml/2006/ole">
            <p:oleObj spid="_x0000_s53250" name="Equation" r:id="rId5" imgW="1422360" imgH="228600" progId="Equation.3">
              <p:embed/>
            </p:oleObj>
          </a:graphicData>
        </a:graphic>
      </p:graphicFrame>
      <p:sp>
        <p:nvSpPr>
          <p:cNvPr id="56" name="Text Placeholder 55"/>
          <p:cNvSpPr>
            <a:spLocks noGrp="1"/>
          </p:cNvSpPr>
          <p:nvPr>
            <p:ph type="body" sz="quarter" idx="4294967295"/>
          </p:nvPr>
        </p:nvSpPr>
        <p:spPr>
          <a:xfrm>
            <a:off x="4920916" y="1281448"/>
            <a:ext cx="4030579" cy="355600"/>
          </a:xfrm>
        </p:spPr>
        <p:txBody>
          <a:bodyPr/>
          <a:lstStyle/>
          <a:p>
            <a:r>
              <a:rPr lang="en-US" dirty="0" smtClean="0"/>
              <a:t>TED &amp; TDS Overview</a:t>
            </a:r>
            <a:endParaRPr lang="en-US" dirty="0"/>
          </a:p>
        </p:txBody>
      </p:sp>
      <p:grpSp>
        <p:nvGrpSpPr>
          <p:cNvPr id="3" name="Group 30"/>
          <p:cNvGrpSpPr/>
          <p:nvPr/>
        </p:nvGrpSpPr>
        <p:grpSpPr>
          <a:xfrm>
            <a:off x="2230245" y="2531327"/>
            <a:ext cx="1301253" cy="1349297"/>
            <a:chOff x="2230245" y="2531327"/>
            <a:chExt cx="1301253" cy="1349297"/>
          </a:xfrm>
        </p:grpSpPr>
        <p:sp>
          <p:nvSpPr>
            <p:cNvPr id="11" name="Freeform 10"/>
            <p:cNvSpPr/>
            <p:nvPr/>
          </p:nvSpPr>
          <p:spPr>
            <a:xfrm>
              <a:off x="2676293" y="2553629"/>
              <a:ext cx="485078" cy="1326995"/>
            </a:xfrm>
            <a:custGeom>
              <a:avLst/>
              <a:gdLst>
                <a:gd name="connsiteX0" fmla="*/ 0 w 485078"/>
                <a:gd name="connsiteY0" fmla="*/ 0 h 1326995"/>
                <a:gd name="connsiteX1" fmla="*/ 412595 w 485078"/>
                <a:gd name="connsiteY1" fmla="*/ 446049 h 1326995"/>
                <a:gd name="connsiteX2" fmla="*/ 434897 w 485078"/>
                <a:gd name="connsiteY2" fmla="*/ 1326995 h 1326995"/>
                <a:gd name="connsiteX3" fmla="*/ 434897 w 485078"/>
                <a:gd name="connsiteY3" fmla="*/ 1326995 h 1326995"/>
                <a:gd name="connsiteX4" fmla="*/ 434897 w 485078"/>
                <a:gd name="connsiteY4" fmla="*/ 1326995 h 132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078" h="1326995">
                  <a:moveTo>
                    <a:pt x="0" y="0"/>
                  </a:moveTo>
                  <a:cubicBezTo>
                    <a:pt x="170056" y="112441"/>
                    <a:pt x="340112" y="224883"/>
                    <a:pt x="412595" y="446049"/>
                  </a:cubicBezTo>
                  <a:cubicBezTo>
                    <a:pt x="485078" y="667215"/>
                    <a:pt x="434897" y="1326995"/>
                    <a:pt x="434897" y="1326995"/>
                  </a:cubicBezTo>
                  <a:lnTo>
                    <a:pt x="434897" y="1326995"/>
                  </a:lnTo>
                  <a:lnTo>
                    <a:pt x="434897" y="1326995"/>
                  </a:ln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11190" y="2854712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 smtClean="0"/>
                <a:t>zu</a:t>
              </a:r>
              <a:endParaRPr lang="en-US" i="1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2230245" y="2531327"/>
              <a:ext cx="312234" cy="234175"/>
            </a:xfrm>
            <a:prstGeom prst="ellipse">
              <a:avLst/>
            </a:prstGeom>
            <a:solidFill>
              <a:srgbClr val="A3B6E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710863" y="3133771"/>
              <a:ext cx="312234" cy="234175"/>
            </a:xfrm>
            <a:prstGeom prst="ellipse">
              <a:avLst/>
            </a:prstGeom>
            <a:solidFill>
              <a:srgbClr val="A3B6E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2196792" y="3647285"/>
            <a:ext cx="1193434" cy="2022552"/>
            <a:chOff x="2196792" y="3647285"/>
            <a:chExt cx="1193434" cy="2022552"/>
          </a:xfrm>
        </p:grpSpPr>
        <p:cxnSp>
          <p:nvCxnSpPr>
            <p:cNvPr id="14" name="Straight Arrow Connector 13"/>
            <p:cNvCxnSpPr/>
            <p:nvPr/>
          </p:nvCxnSpPr>
          <p:spPr>
            <a:xfrm rot="5400000">
              <a:off x="1895708" y="4594303"/>
              <a:ext cx="1371600" cy="1115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88165" y="4538547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 smtClean="0"/>
                <a:t>qw</a:t>
              </a:r>
              <a:endParaRPr lang="en-US" i="1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2252826" y="3647285"/>
              <a:ext cx="312234" cy="234175"/>
            </a:xfrm>
            <a:prstGeom prst="ellipse">
              <a:avLst/>
            </a:prstGeom>
            <a:solidFill>
              <a:srgbClr val="A3B6E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196792" y="5435662"/>
              <a:ext cx="312234" cy="234175"/>
            </a:xfrm>
            <a:prstGeom prst="ellipse">
              <a:avLst/>
            </a:prstGeom>
            <a:solidFill>
              <a:srgbClr val="A3B6E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34"/>
          <p:cNvGrpSpPr/>
          <p:nvPr/>
        </p:nvGrpSpPr>
        <p:grpSpPr>
          <a:xfrm>
            <a:off x="2043832" y="2231080"/>
            <a:ext cx="1825624" cy="3650166"/>
            <a:chOff x="2066692" y="2196790"/>
            <a:chExt cx="1825624" cy="3650166"/>
          </a:xfrm>
        </p:grpSpPr>
        <p:sp>
          <p:nvSpPr>
            <p:cNvPr id="17" name="TextBox 16"/>
            <p:cNvSpPr txBox="1"/>
            <p:nvPr/>
          </p:nvSpPr>
          <p:spPr>
            <a:xfrm>
              <a:off x="2832410" y="2196790"/>
              <a:ext cx="1059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(</a:t>
              </a:r>
              <a:r>
                <a:rPr lang="en-US" i="1" dirty="0" err="1" smtClean="0"/>
                <a:t>zu+qw</a:t>
              </a:r>
              <a:r>
                <a:rPr lang="en-US" i="1" dirty="0" smtClean="0"/>
                <a:t>)</a:t>
              </a:r>
              <a:endParaRPr lang="en-US" i="1" dirty="0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66692" y="2414239"/>
              <a:ext cx="1077952" cy="3432717"/>
            </a:xfrm>
            <a:custGeom>
              <a:avLst/>
              <a:gdLst>
                <a:gd name="connsiteX0" fmla="*/ 96645 w 1077952"/>
                <a:gd name="connsiteY0" fmla="*/ 395868 h 3432717"/>
                <a:gd name="connsiteX1" fmla="*/ 74342 w 1077952"/>
                <a:gd name="connsiteY1" fmla="*/ 105937 h 3432717"/>
                <a:gd name="connsiteX2" fmla="*/ 431181 w 1077952"/>
                <a:gd name="connsiteY2" fmla="*/ 16727 h 3432717"/>
                <a:gd name="connsiteX3" fmla="*/ 709962 w 1077952"/>
                <a:gd name="connsiteY3" fmla="*/ 206298 h 3432717"/>
                <a:gd name="connsiteX4" fmla="*/ 1033347 w 1077952"/>
                <a:gd name="connsiteY4" fmla="*/ 708102 h 3432717"/>
                <a:gd name="connsiteX5" fmla="*/ 977591 w 1077952"/>
                <a:gd name="connsiteY5" fmla="*/ 1968190 h 3432717"/>
                <a:gd name="connsiteX6" fmla="*/ 564996 w 1077952"/>
                <a:gd name="connsiteY6" fmla="*/ 3228278 h 3432717"/>
                <a:gd name="connsiteX7" fmla="*/ 85493 w 1077952"/>
                <a:gd name="connsiteY7" fmla="*/ 3194824 h 3432717"/>
                <a:gd name="connsiteX8" fmla="*/ 52040 w 1077952"/>
                <a:gd name="connsiteY8" fmla="*/ 2681868 h 3432717"/>
                <a:gd name="connsiteX9" fmla="*/ 319669 w 1077952"/>
                <a:gd name="connsiteY9" fmla="*/ 2458844 h 3432717"/>
                <a:gd name="connsiteX10" fmla="*/ 241610 w 1077952"/>
                <a:gd name="connsiteY10" fmla="*/ 1711712 h 3432717"/>
                <a:gd name="connsiteX11" fmla="*/ 29737 w 1077952"/>
                <a:gd name="connsiteY11" fmla="*/ 1187605 h 3432717"/>
                <a:gd name="connsiteX12" fmla="*/ 141249 w 1077952"/>
                <a:gd name="connsiteY12" fmla="*/ 518532 h 3432717"/>
                <a:gd name="connsiteX13" fmla="*/ 96645 w 1077952"/>
                <a:gd name="connsiteY13" fmla="*/ 395868 h 343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7952" h="3432717">
                  <a:moveTo>
                    <a:pt x="96645" y="395868"/>
                  </a:moveTo>
                  <a:cubicBezTo>
                    <a:pt x="85494" y="327102"/>
                    <a:pt x="18586" y="169127"/>
                    <a:pt x="74342" y="105937"/>
                  </a:cubicBezTo>
                  <a:cubicBezTo>
                    <a:pt x="130098" y="42747"/>
                    <a:pt x="325244" y="0"/>
                    <a:pt x="431181" y="16727"/>
                  </a:cubicBezTo>
                  <a:cubicBezTo>
                    <a:pt x="537118" y="33454"/>
                    <a:pt x="609601" y="91069"/>
                    <a:pt x="709962" y="206298"/>
                  </a:cubicBezTo>
                  <a:cubicBezTo>
                    <a:pt x="810323" y="321527"/>
                    <a:pt x="988742" y="414453"/>
                    <a:pt x="1033347" y="708102"/>
                  </a:cubicBezTo>
                  <a:cubicBezTo>
                    <a:pt x="1077952" y="1001751"/>
                    <a:pt x="1055649" y="1548161"/>
                    <a:pt x="977591" y="1968190"/>
                  </a:cubicBezTo>
                  <a:cubicBezTo>
                    <a:pt x="899533" y="2388219"/>
                    <a:pt x="713679" y="3023839"/>
                    <a:pt x="564996" y="3228278"/>
                  </a:cubicBezTo>
                  <a:cubicBezTo>
                    <a:pt x="416313" y="3432717"/>
                    <a:pt x="170986" y="3285892"/>
                    <a:pt x="85493" y="3194824"/>
                  </a:cubicBezTo>
                  <a:cubicBezTo>
                    <a:pt x="0" y="3103756"/>
                    <a:pt x="13011" y="2804531"/>
                    <a:pt x="52040" y="2681868"/>
                  </a:cubicBezTo>
                  <a:cubicBezTo>
                    <a:pt x="91069" y="2559205"/>
                    <a:pt x="288074" y="2620537"/>
                    <a:pt x="319669" y="2458844"/>
                  </a:cubicBezTo>
                  <a:cubicBezTo>
                    <a:pt x="351264" y="2297151"/>
                    <a:pt x="289932" y="1923585"/>
                    <a:pt x="241610" y="1711712"/>
                  </a:cubicBezTo>
                  <a:cubicBezTo>
                    <a:pt x="193288" y="1499839"/>
                    <a:pt x="46464" y="1386468"/>
                    <a:pt x="29737" y="1187605"/>
                  </a:cubicBezTo>
                  <a:cubicBezTo>
                    <a:pt x="13010" y="988742"/>
                    <a:pt x="130098" y="644912"/>
                    <a:pt x="141249" y="518532"/>
                  </a:cubicBezTo>
                  <a:cubicBezTo>
                    <a:pt x="152400" y="392152"/>
                    <a:pt x="107796" y="464634"/>
                    <a:pt x="96645" y="395868"/>
                  </a:cubicBezTo>
                  <a:close/>
                </a:path>
              </a:pathLst>
            </a:custGeom>
            <a:solidFill>
              <a:srgbClr val="A3B6E2">
                <a:alpha val="3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41033" y="2921620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>
                  <a:solidFill>
                    <a:srgbClr val="FF0000"/>
                  </a:solidFill>
                </a:rPr>
                <a:t>+</a:t>
              </a:r>
              <a:endParaRPr lang="en-US" b="1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36"/>
          <p:cNvGrpSpPr/>
          <p:nvPr/>
        </p:nvGrpSpPr>
        <p:grpSpPr>
          <a:xfrm>
            <a:off x="1951185" y="1750740"/>
            <a:ext cx="1655104" cy="602166"/>
            <a:chOff x="1951185" y="1750740"/>
            <a:chExt cx="1655104" cy="602166"/>
          </a:xfrm>
        </p:grpSpPr>
        <p:cxnSp>
          <p:nvCxnSpPr>
            <p:cNvPr id="20" name="Straight Arrow Connector 19"/>
            <p:cNvCxnSpPr/>
            <p:nvPr/>
          </p:nvCxnSpPr>
          <p:spPr>
            <a:xfrm rot="16200000" flipH="1">
              <a:off x="2219093" y="1951462"/>
              <a:ext cx="490653" cy="31223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430967" y="1750740"/>
              <a:ext cx="1175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x(</a:t>
              </a:r>
              <a:r>
                <a:rPr lang="en-US" i="1" dirty="0" err="1" smtClean="0"/>
                <a:t>zu+qw</a:t>
              </a:r>
              <a:r>
                <a:rPr lang="en-US" i="1" dirty="0" smtClean="0"/>
                <a:t>)</a:t>
              </a:r>
              <a:endParaRPr lang="en-US" i="1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1951185" y="1894035"/>
              <a:ext cx="356839" cy="211874"/>
            </a:xfrm>
            <a:prstGeom prst="ellipse">
              <a:avLst/>
            </a:prstGeom>
            <a:solidFill>
              <a:srgbClr val="A3B6E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42"/>
          <p:cNvGrpSpPr/>
          <p:nvPr/>
        </p:nvGrpSpPr>
        <p:grpSpPr>
          <a:xfrm>
            <a:off x="814039" y="2810107"/>
            <a:ext cx="1337867" cy="2848023"/>
            <a:chOff x="814039" y="2810107"/>
            <a:chExt cx="1337867" cy="2848023"/>
          </a:xfrm>
        </p:grpSpPr>
        <p:sp>
          <p:nvSpPr>
            <p:cNvPr id="23" name="Freeform 22"/>
            <p:cNvSpPr/>
            <p:nvPr/>
          </p:nvSpPr>
          <p:spPr>
            <a:xfrm>
              <a:off x="1455234" y="4259766"/>
              <a:ext cx="250903" cy="1349297"/>
            </a:xfrm>
            <a:custGeom>
              <a:avLst/>
              <a:gdLst>
                <a:gd name="connsiteX0" fmla="*/ 217449 w 250903"/>
                <a:gd name="connsiteY0" fmla="*/ 0 h 1349297"/>
                <a:gd name="connsiteX1" fmla="*/ 5576 w 250903"/>
                <a:gd name="connsiteY1" fmla="*/ 858644 h 1349297"/>
                <a:gd name="connsiteX2" fmla="*/ 250903 w 250903"/>
                <a:gd name="connsiteY2" fmla="*/ 1349297 h 134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903" h="1349297">
                  <a:moveTo>
                    <a:pt x="217449" y="0"/>
                  </a:moveTo>
                  <a:cubicBezTo>
                    <a:pt x="108724" y="316880"/>
                    <a:pt x="0" y="633761"/>
                    <a:pt x="5576" y="858644"/>
                  </a:cubicBezTo>
                  <a:cubicBezTo>
                    <a:pt x="11152" y="1083527"/>
                    <a:pt x="131027" y="1216412"/>
                    <a:pt x="250903" y="1349297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25"/>
            <p:cNvGrpSpPr/>
            <p:nvPr/>
          </p:nvGrpSpPr>
          <p:grpSpPr>
            <a:xfrm>
              <a:off x="814039" y="4683512"/>
              <a:ext cx="680897" cy="458541"/>
              <a:chOff x="434898" y="4750420"/>
              <a:chExt cx="680897" cy="458541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434898" y="4839629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/>
                  <a:t>pw</a:t>
                </a:r>
                <a:endParaRPr lang="en-US" i="1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02889" y="4750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/>
                  <a:t>2</a:t>
                </a:r>
                <a:endParaRPr lang="en-US" i="1" dirty="0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661531" y="2810107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>
                  <a:solidFill>
                    <a:srgbClr val="FF0000"/>
                  </a:solidFill>
                </a:rPr>
                <a:t>+</a:t>
              </a:r>
              <a:endParaRPr lang="en-US" b="1" i="1" dirty="0">
                <a:solidFill>
                  <a:srgbClr val="FF0000"/>
                </a:solidFill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1795067" y="4172229"/>
              <a:ext cx="356839" cy="211874"/>
            </a:xfrm>
            <a:prstGeom prst="ellipse">
              <a:avLst/>
            </a:prstGeom>
            <a:solidFill>
              <a:srgbClr val="A3B6E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1593230" y="5446256"/>
              <a:ext cx="356839" cy="211874"/>
            </a:xfrm>
            <a:prstGeom prst="ellipse">
              <a:avLst/>
            </a:prstGeom>
            <a:solidFill>
              <a:srgbClr val="A3B6E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5519019" y="1885950"/>
            <a:ext cx="356001" cy="384440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6134843" y="1874520"/>
            <a:ext cx="460267" cy="395868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5486958" y="1885950"/>
            <a:ext cx="1108152" cy="384717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5143500" y="1885950"/>
            <a:ext cx="1554480" cy="388620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6975924" y="1863090"/>
            <a:ext cx="579306" cy="429601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7828435" y="1947282"/>
            <a:ext cx="468351" cy="356839"/>
          </a:xfrm>
          <a:prstGeom prst="roundRect">
            <a:avLst/>
          </a:prstGeom>
          <a:solidFill>
            <a:srgbClr val="A3B6E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55"/>
          <p:cNvGrpSpPr/>
          <p:nvPr/>
        </p:nvGrpSpPr>
        <p:grpSpPr>
          <a:xfrm>
            <a:off x="1527718" y="4293219"/>
            <a:ext cx="1015318" cy="1752084"/>
            <a:chOff x="1527718" y="4293219"/>
            <a:chExt cx="1015318" cy="1752084"/>
          </a:xfrm>
        </p:grpSpPr>
        <p:sp>
          <p:nvSpPr>
            <p:cNvPr id="51" name="TextBox 50"/>
            <p:cNvSpPr txBox="1"/>
            <p:nvPr/>
          </p:nvSpPr>
          <p:spPr>
            <a:xfrm>
              <a:off x="1795347" y="429321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+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1895150" y="4787218"/>
              <a:ext cx="345688" cy="245327"/>
            </a:xfrm>
            <a:prstGeom prst="ellipse">
              <a:avLst/>
            </a:prstGeom>
            <a:solidFill>
              <a:srgbClr val="A3B6E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2197348" y="5434825"/>
              <a:ext cx="345688" cy="245327"/>
            </a:xfrm>
            <a:prstGeom prst="ellipse">
              <a:avLst/>
            </a:prstGeom>
            <a:solidFill>
              <a:srgbClr val="A3B6E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1813932" y="4627756"/>
              <a:ext cx="382858" cy="880946"/>
            </a:xfrm>
            <a:custGeom>
              <a:avLst/>
              <a:gdLst>
                <a:gd name="connsiteX0" fmla="*/ 92927 w 382858"/>
                <a:gd name="connsiteY0" fmla="*/ 0 h 880946"/>
                <a:gd name="connsiteX1" fmla="*/ 48322 w 382858"/>
                <a:gd name="connsiteY1" fmla="*/ 234176 h 880946"/>
                <a:gd name="connsiteX2" fmla="*/ 382858 w 382858"/>
                <a:gd name="connsiteY2" fmla="*/ 880946 h 88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2858" h="880946">
                  <a:moveTo>
                    <a:pt x="92927" y="0"/>
                  </a:moveTo>
                  <a:cubicBezTo>
                    <a:pt x="46463" y="43676"/>
                    <a:pt x="0" y="87352"/>
                    <a:pt x="48322" y="234176"/>
                  </a:cubicBezTo>
                  <a:cubicBezTo>
                    <a:pt x="96644" y="381000"/>
                    <a:pt x="239751" y="630973"/>
                    <a:pt x="382858" y="880946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27718" y="5675971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err="1" smtClean="0"/>
                <a:t>yw</a:t>
              </a:r>
              <a:endParaRPr lang="en-US" i="1" dirty="0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126493" y="2701104"/>
            <a:ext cx="3227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Canonical for the given order:</a:t>
            </a:r>
          </a:p>
          <a:p>
            <a:r>
              <a:rPr lang="en-US" i="1" dirty="0" err="1" smtClean="0"/>
              <a:t>x,z,u,q,p,y,w</a:t>
            </a:r>
            <a:endParaRPr lang="en-US" i="1" dirty="0"/>
          </a:p>
        </p:txBody>
      </p:sp>
      <p:sp>
        <p:nvSpPr>
          <p:cNvPr id="90" name="Rounded Rectangle 89"/>
          <p:cNvSpPr/>
          <p:nvPr/>
        </p:nvSpPr>
        <p:spPr>
          <a:xfrm>
            <a:off x="5328185" y="3475923"/>
            <a:ext cx="3486150" cy="2514600"/>
          </a:xfrm>
          <a:prstGeom prst="roundRect">
            <a:avLst>
              <a:gd name="adj" fmla="val 9755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73" idx="4"/>
            <a:endCxn id="58" idx="0"/>
          </p:cNvCxnSpPr>
          <p:nvPr/>
        </p:nvCxnSpPr>
        <p:spPr>
          <a:xfrm rot="5400000">
            <a:off x="5833776" y="5081782"/>
            <a:ext cx="715266" cy="91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147541" y="485472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^3 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764333" y="4158710"/>
            <a:ext cx="854242" cy="565484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6016995" y="4266994"/>
            <a:ext cx="360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9" name="Straight Arrow Connector 78"/>
          <p:cNvCxnSpPr>
            <a:endCxn id="73" idx="0"/>
          </p:cNvCxnSpPr>
          <p:nvPr/>
        </p:nvCxnSpPr>
        <p:spPr>
          <a:xfrm rot="5400000">
            <a:off x="6036171" y="4002166"/>
            <a:ext cx="311827" cy="1260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ight Arrow 84"/>
          <p:cNvSpPr/>
          <p:nvPr/>
        </p:nvSpPr>
        <p:spPr>
          <a:xfrm>
            <a:off x="7009006" y="4936540"/>
            <a:ext cx="422910" cy="25146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5420236" y="3450640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Notation:</a:t>
            </a:r>
            <a:endParaRPr lang="en-US" dirty="0"/>
          </a:p>
        </p:txBody>
      </p:sp>
      <p:sp>
        <p:nvSpPr>
          <p:cNvPr id="58" name="Isosceles Triangle 57"/>
          <p:cNvSpPr/>
          <p:nvPr/>
        </p:nvSpPr>
        <p:spPr>
          <a:xfrm>
            <a:off x="5866006" y="5439460"/>
            <a:ext cx="674370" cy="445770"/>
          </a:xfrm>
          <a:prstGeom prst="triangle">
            <a:avLst>
              <a:gd name="adj" fmla="val 4824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7569076" y="4719370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" pitchFamily="18" charset="0"/>
              </a:rPr>
              <a:t>5</a:t>
            </a:r>
            <a:r>
              <a:rPr lang="en-US" sz="2800" i="1" dirty="0" smtClean="0">
                <a:latin typeface="Times" pitchFamily="18" charset="0"/>
              </a:rPr>
              <a:t>x</a:t>
            </a:r>
            <a:r>
              <a:rPr lang="en-US" sz="2800" baseline="30000" dirty="0" smtClean="0">
                <a:latin typeface="Times" pitchFamily="18" charset="0"/>
              </a:rPr>
              <a:t>3</a:t>
            </a:r>
            <a:r>
              <a:rPr lang="en-US" sz="2800" dirty="0" smtClean="0">
                <a:latin typeface="Times" pitchFamily="18" charset="0"/>
              </a:rPr>
              <a:t>×</a:t>
            </a:r>
            <a:r>
              <a:rPr lang="en-US" sz="2800" i="1" dirty="0" smtClean="0">
                <a:latin typeface="Times" pitchFamily="18" charset="0"/>
              </a:rPr>
              <a:t>f</a:t>
            </a:r>
            <a:endParaRPr lang="en-US" sz="2800" i="1" dirty="0">
              <a:latin typeface="Times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042865" y="5494805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0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50" grpId="0" animBg="1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TED Variable Ordering</a:t>
            </a:r>
            <a:endParaRPr lang="en-US" dirty="0"/>
          </a:p>
        </p:txBody>
      </p:sp>
      <p:pic>
        <p:nvPicPr>
          <p:cNvPr id="5" name="Picture 28" descr="verification_a-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8115" y="1825904"/>
            <a:ext cx="18589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3" descr="verification_a-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45064" y="1829717"/>
            <a:ext cx="2019300" cy="4173537"/>
          </a:xfrm>
          <a:prstGeom prst="rect">
            <a:avLst/>
          </a:prstGeom>
          <a:noFill/>
        </p:spPr>
      </p:pic>
      <p:pic>
        <p:nvPicPr>
          <p:cNvPr id="9" name="Picture 22" descr="verification_a-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78142" y="1739869"/>
            <a:ext cx="2403475" cy="4262437"/>
          </a:xfrm>
          <a:prstGeom prst="rect">
            <a:avLst/>
          </a:prstGeom>
          <a:noFill/>
        </p:spPr>
      </p:pic>
      <p:pic>
        <p:nvPicPr>
          <p:cNvPr id="10" name="Picture 21" descr="verification_a-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0511" y="1763683"/>
            <a:ext cx="2425700" cy="4244975"/>
          </a:xfrm>
          <a:prstGeom prst="rect">
            <a:avLst/>
          </a:prstGeom>
          <a:noFill/>
        </p:spPr>
      </p:pic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76781" y="2023179"/>
            <a:ext cx="1857375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ounded Rectangle 15"/>
          <p:cNvSpPr/>
          <p:nvPr/>
        </p:nvSpPr>
        <p:spPr>
          <a:xfrm>
            <a:off x="272955" y="2703151"/>
            <a:ext cx="1733266" cy="354842"/>
          </a:xfrm>
          <a:prstGeom prst="roundRect">
            <a:avLst/>
          </a:prstGeom>
          <a:solidFill>
            <a:srgbClr val="19FF1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074801" y="3221766"/>
            <a:ext cx="1733266" cy="354842"/>
          </a:xfrm>
          <a:prstGeom prst="roundRect">
            <a:avLst/>
          </a:prstGeom>
          <a:solidFill>
            <a:srgbClr val="19FF1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271750" y="3767677"/>
            <a:ext cx="1733266" cy="354842"/>
          </a:xfrm>
          <a:prstGeom prst="roundRect">
            <a:avLst/>
          </a:prstGeom>
          <a:solidFill>
            <a:srgbClr val="19FF1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834590" y="4381826"/>
            <a:ext cx="1651378" cy="354842"/>
          </a:xfrm>
          <a:prstGeom prst="roundRect">
            <a:avLst/>
          </a:prstGeom>
          <a:solidFill>
            <a:srgbClr val="19FF1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588154" y="4955032"/>
            <a:ext cx="1378425" cy="354842"/>
          </a:xfrm>
          <a:prstGeom prst="roundRect">
            <a:avLst/>
          </a:prstGeom>
          <a:solidFill>
            <a:srgbClr val="19FF19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035" name="Content Placeholder 7"/>
          <p:cNvGraphicFramePr>
            <a:graphicFrameLocks noChangeAspect="1"/>
          </p:cNvGraphicFramePr>
          <p:nvPr/>
        </p:nvGraphicFramePr>
        <p:xfrm>
          <a:off x="705513" y="1229022"/>
          <a:ext cx="3288412" cy="384477"/>
        </p:xfrm>
        <a:graphic>
          <a:graphicData uri="http://schemas.openxmlformats.org/presentationml/2006/ole">
            <p:oleObj spid="_x0000_s54274" name="Equation" r:id="rId9" imgW="1955520" imgH="228600" progId="Equation.3">
              <p:embed/>
            </p:oleObj>
          </a:graphicData>
        </a:graphic>
      </p:graphicFrame>
      <p:grpSp>
        <p:nvGrpSpPr>
          <p:cNvPr id="3" name="Group 25"/>
          <p:cNvGrpSpPr/>
          <p:nvPr/>
        </p:nvGrpSpPr>
        <p:grpSpPr>
          <a:xfrm>
            <a:off x="2023110" y="1983402"/>
            <a:ext cx="5527306" cy="4017774"/>
            <a:chOff x="2023110" y="2091690"/>
            <a:chExt cx="5527306" cy="4017774"/>
          </a:xfrm>
        </p:grpSpPr>
        <p:sp>
          <p:nvSpPr>
            <p:cNvPr id="22" name="Rectangle 21"/>
            <p:cNvSpPr/>
            <p:nvPr/>
          </p:nvSpPr>
          <p:spPr>
            <a:xfrm>
              <a:off x="2023110" y="2400300"/>
              <a:ext cx="5474970" cy="3669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2247673" y="2091690"/>
              <a:ext cx="2568393" cy="3018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812030" y="3036275"/>
              <a:ext cx="2738386" cy="3073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4" name="Right Arrow 23"/>
            <p:cNvSpPr/>
            <p:nvPr/>
          </p:nvSpPr>
          <p:spPr>
            <a:xfrm>
              <a:off x="2091690" y="2811780"/>
              <a:ext cx="400050" cy="365760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 rot="10800000">
              <a:off x="6515100" y="5052060"/>
              <a:ext cx="674370" cy="365760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28"/>
          <p:cNvGrpSpPr/>
          <p:nvPr/>
        </p:nvGrpSpPr>
        <p:grpSpPr>
          <a:xfrm>
            <a:off x="2853690" y="2269152"/>
            <a:ext cx="4537710" cy="2044544"/>
            <a:chOff x="2853690" y="2377440"/>
            <a:chExt cx="4537710" cy="2044544"/>
          </a:xfrm>
        </p:grpSpPr>
        <p:sp>
          <p:nvSpPr>
            <p:cNvPr id="27" name="Freeform 26"/>
            <p:cNvSpPr/>
            <p:nvPr/>
          </p:nvSpPr>
          <p:spPr>
            <a:xfrm>
              <a:off x="2853690" y="2377440"/>
              <a:ext cx="1798320" cy="1072515"/>
            </a:xfrm>
            <a:custGeom>
              <a:avLst/>
              <a:gdLst>
                <a:gd name="connsiteX0" fmla="*/ 49530 w 1798320"/>
                <a:gd name="connsiteY0" fmla="*/ 560070 h 1072515"/>
                <a:gd name="connsiteX1" fmla="*/ 3810 w 1798320"/>
                <a:gd name="connsiteY1" fmla="*/ 297180 h 1072515"/>
                <a:gd name="connsiteX2" fmla="*/ 72390 w 1798320"/>
                <a:gd name="connsiteY2" fmla="*/ 68580 h 1072515"/>
                <a:gd name="connsiteX3" fmla="*/ 312420 w 1798320"/>
                <a:gd name="connsiteY3" fmla="*/ 0 h 1072515"/>
                <a:gd name="connsiteX4" fmla="*/ 1158240 w 1798320"/>
                <a:gd name="connsiteY4" fmla="*/ 68580 h 1072515"/>
                <a:gd name="connsiteX5" fmla="*/ 1706880 w 1798320"/>
                <a:gd name="connsiteY5" fmla="*/ 171450 h 1072515"/>
                <a:gd name="connsiteX6" fmla="*/ 1706880 w 1798320"/>
                <a:gd name="connsiteY6" fmla="*/ 685800 h 1072515"/>
                <a:gd name="connsiteX7" fmla="*/ 1432560 w 1798320"/>
                <a:gd name="connsiteY7" fmla="*/ 1040130 h 1072515"/>
                <a:gd name="connsiteX8" fmla="*/ 1158240 w 1798320"/>
                <a:gd name="connsiteY8" fmla="*/ 880110 h 1072515"/>
                <a:gd name="connsiteX9" fmla="*/ 792480 w 1798320"/>
                <a:gd name="connsiteY9" fmla="*/ 788670 h 1072515"/>
                <a:gd name="connsiteX10" fmla="*/ 483870 w 1798320"/>
                <a:gd name="connsiteY10" fmla="*/ 914400 h 1072515"/>
                <a:gd name="connsiteX11" fmla="*/ 243840 w 1798320"/>
                <a:gd name="connsiteY11" fmla="*/ 1017270 h 1072515"/>
                <a:gd name="connsiteX12" fmla="*/ 38100 w 1798320"/>
                <a:gd name="connsiteY12" fmla="*/ 857250 h 1072515"/>
                <a:gd name="connsiteX13" fmla="*/ 49530 w 1798320"/>
                <a:gd name="connsiteY13" fmla="*/ 560070 h 107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8320" h="1072515">
                  <a:moveTo>
                    <a:pt x="49530" y="560070"/>
                  </a:moveTo>
                  <a:cubicBezTo>
                    <a:pt x="43815" y="466725"/>
                    <a:pt x="0" y="379095"/>
                    <a:pt x="3810" y="297180"/>
                  </a:cubicBezTo>
                  <a:cubicBezTo>
                    <a:pt x="7620" y="215265"/>
                    <a:pt x="20955" y="118110"/>
                    <a:pt x="72390" y="68580"/>
                  </a:cubicBezTo>
                  <a:cubicBezTo>
                    <a:pt x="123825" y="19050"/>
                    <a:pt x="131445" y="0"/>
                    <a:pt x="312420" y="0"/>
                  </a:cubicBezTo>
                  <a:cubicBezTo>
                    <a:pt x="493395" y="0"/>
                    <a:pt x="925830" y="40005"/>
                    <a:pt x="1158240" y="68580"/>
                  </a:cubicBezTo>
                  <a:cubicBezTo>
                    <a:pt x="1390650" y="97155"/>
                    <a:pt x="1615440" y="68580"/>
                    <a:pt x="1706880" y="171450"/>
                  </a:cubicBezTo>
                  <a:cubicBezTo>
                    <a:pt x="1798320" y="274320"/>
                    <a:pt x="1752600" y="541020"/>
                    <a:pt x="1706880" y="685800"/>
                  </a:cubicBezTo>
                  <a:cubicBezTo>
                    <a:pt x="1661160" y="830580"/>
                    <a:pt x="1524000" y="1007745"/>
                    <a:pt x="1432560" y="1040130"/>
                  </a:cubicBezTo>
                  <a:cubicBezTo>
                    <a:pt x="1341120" y="1072515"/>
                    <a:pt x="1264920" y="922020"/>
                    <a:pt x="1158240" y="880110"/>
                  </a:cubicBezTo>
                  <a:cubicBezTo>
                    <a:pt x="1051560" y="838200"/>
                    <a:pt x="904875" y="782955"/>
                    <a:pt x="792480" y="788670"/>
                  </a:cubicBezTo>
                  <a:cubicBezTo>
                    <a:pt x="680085" y="794385"/>
                    <a:pt x="575310" y="876300"/>
                    <a:pt x="483870" y="914400"/>
                  </a:cubicBezTo>
                  <a:cubicBezTo>
                    <a:pt x="392430" y="952500"/>
                    <a:pt x="318135" y="1026795"/>
                    <a:pt x="243840" y="1017270"/>
                  </a:cubicBezTo>
                  <a:cubicBezTo>
                    <a:pt x="169545" y="1007745"/>
                    <a:pt x="70485" y="935355"/>
                    <a:pt x="38100" y="857250"/>
                  </a:cubicBezTo>
                  <a:cubicBezTo>
                    <a:pt x="5715" y="779145"/>
                    <a:pt x="55245" y="653415"/>
                    <a:pt x="49530" y="560070"/>
                  </a:cubicBezTo>
                  <a:close/>
                </a:path>
              </a:pathLst>
            </a:custGeom>
            <a:solidFill>
              <a:srgbClr val="375BB0">
                <a:alpha val="30196"/>
              </a:srgbClr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943600" y="3341849"/>
              <a:ext cx="1447800" cy="1080135"/>
            </a:xfrm>
            <a:custGeom>
              <a:avLst/>
              <a:gdLst>
                <a:gd name="connsiteX0" fmla="*/ 125730 w 1447800"/>
                <a:gd name="connsiteY0" fmla="*/ 158115 h 1080135"/>
                <a:gd name="connsiteX1" fmla="*/ 285750 w 1447800"/>
                <a:gd name="connsiteY1" fmla="*/ 20955 h 1080135"/>
                <a:gd name="connsiteX2" fmla="*/ 754380 w 1447800"/>
                <a:gd name="connsiteY2" fmla="*/ 32385 h 1080135"/>
                <a:gd name="connsiteX3" fmla="*/ 1337310 w 1447800"/>
                <a:gd name="connsiteY3" fmla="*/ 78105 h 1080135"/>
                <a:gd name="connsiteX4" fmla="*/ 1417320 w 1447800"/>
                <a:gd name="connsiteY4" fmla="*/ 432435 h 1080135"/>
                <a:gd name="connsiteX5" fmla="*/ 1303020 w 1447800"/>
                <a:gd name="connsiteY5" fmla="*/ 912495 h 1080135"/>
                <a:gd name="connsiteX6" fmla="*/ 982980 w 1447800"/>
                <a:gd name="connsiteY6" fmla="*/ 1003935 h 1080135"/>
                <a:gd name="connsiteX7" fmla="*/ 342900 w 1447800"/>
                <a:gd name="connsiteY7" fmla="*/ 1038225 h 1080135"/>
                <a:gd name="connsiteX8" fmla="*/ 102870 w 1447800"/>
                <a:gd name="connsiteY8" fmla="*/ 1015365 h 1080135"/>
                <a:gd name="connsiteX9" fmla="*/ 0 w 1447800"/>
                <a:gd name="connsiteY9" fmla="*/ 649605 h 1080135"/>
                <a:gd name="connsiteX10" fmla="*/ 125730 w 1447800"/>
                <a:gd name="connsiteY10" fmla="*/ 158115 h 1080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7800" h="1080135">
                  <a:moveTo>
                    <a:pt x="125730" y="158115"/>
                  </a:moveTo>
                  <a:cubicBezTo>
                    <a:pt x="173355" y="53340"/>
                    <a:pt x="180975" y="41910"/>
                    <a:pt x="285750" y="20955"/>
                  </a:cubicBezTo>
                  <a:cubicBezTo>
                    <a:pt x="390525" y="0"/>
                    <a:pt x="579120" y="22860"/>
                    <a:pt x="754380" y="32385"/>
                  </a:cubicBezTo>
                  <a:cubicBezTo>
                    <a:pt x="929640" y="41910"/>
                    <a:pt x="1226820" y="11430"/>
                    <a:pt x="1337310" y="78105"/>
                  </a:cubicBezTo>
                  <a:cubicBezTo>
                    <a:pt x="1447800" y="144780"/>
                    <a:pt x="1423035" y="293370"/>
                    <a:pt x="1417320" y="432435"/>
                  </a:cubicBezTo>
                  <a:cubicBezTo>
                    <a:pt x="1411605" y="571500"/>
                    <a:pt x="1375410" y="817245"/>
                    <a:pt x="1303020" y="912495"/>
                  </a:cubicBezTo>
                  <a:cubicBezTo>
                    <a:pt x="1230630" y="1007745"/>
                    <a:pt x="1143000" y="982980"/>
                    <a:pt x="982980" y="1003935"/>
                  </a:cubicBezTo>
                  <a:cubicBezTo>
                    <a:pt x="822960" y="1024890"/>
                    <a:pt x="489585" y="1036320"/>
                    <a:pt x="342900" y="1038225"/>
                  </a:cubicBezTo>
                  <a:cubicBezTo>
                    <a:pt x="196215" y="1040130"/>
                    <a:pt x="160020" y="1080135"/>
                    <a:pt x="102870" y="1015365"/>
                  </a:cubicBezTo>
                  <a:cubicBezTo>
                    <a:pt x="45720" y="950595"/>
                    <a:pt x="0" y="794385"/>
                    <a:pt x="0" y="649605"/>
                  </a:cubicBezTo>
                  <a:cubicBezTo>
                    <a:pt x="0" y="504825"/>
                    <a:pt x="78105" y="262890"/>
                    <a:pt x="125730" y="158115"/>
                  </a:cubicBezTo>
                  <a:close/>
                </a:path>
              </a:pathLst>
            </a:custGeom>
            <a:solidFill>
              <a:srgbClr val="375BB0">
                <a:alpha val="30196"/>
              </a:srgbClr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TED optimizes HW not operation count</a:t>
            </a:r>
            <a:endParaRPr lang="en-US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88939" y="1699006"/>
          <a:ext cx="2937192" cy="324104"/>
        </p:xfrm>
        <a:graphic>
          <a:graphicData uri="http://schemas.openxmlformats.org/presentationml/2006/ole">
            <p:oleObj spid="_x0000_s55299" name="Equation" r:id="rId4" imgW="1841400" imgH="203040" progId="Equation.3">
              <p:embed/>
            </p:oleObj>
          </a:graphicData>
        </a:graphic>
      </p:graphicFrame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3844" y="2171700"/>
            <a:ext cx="2763536" cy="358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20"/>
          <p:cNvGrpSpPr/>
          <p:nvPr/>
        </p:nvGrpSpPr>
        <p:grpSpPr>
          <a:xfrm>
            <a:off x="377190" y="2570811"/>
            <a:ext cx="2937510" cy="2753067"/>
            <a:chOff x="1539561" y="877387"/>
            <a:chExt cx="5315431" cy="5033811"/>
          </a:xfrm>
        </p:grpSpPr>
        <p:cxnSp>
          <p:nvCxnSpPr>
            <p:cNvPr id="22" name="Straight Connector 21"/>
            <p:cNvCxnSpPr/>
            <p:nvPr/>
          </p:nvCxnSpPr>
          <p:spPr>
            <a:xfrm flipV="1">
              <a:off x="1540669" y="877387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1550194" y="1934662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1550194" y="2864341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1550194" y="3921616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1540669" y="4845541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1539561" y="5909904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7"/>
          <p:cNvGrpSpPr/>
          <p:nvPr/>
        </p:nvGrpSpPr>
        <p:grpSpPr>
          <a:xfrm>
            <a:off x="1392352" y="3713369"/>
            <a:ext cx="1201267" cy="995594"/>
            <a:chOff x="3376499" y="2966483"/>
            <a:chExt cx="2173696" cy="1820382"/>
          </a:xfrm>
        </p:grpSpPr>
        <p:sp>
          <p:nvSpPr>
            <p:cNvPr id="29" name="Rounded Rectangle 28"/>
            <p:cNvSpPr/>
            <p:nvPr/>
          </p:nvSpPr>
          <p:spPr>
            <a:xfrm>
              <a:off x="3498111" y="2966483"/>
              <a:ext cx="2052084" cy="881173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376499" y="4043916"/>
              <a:ext cx="1181101" cy="742949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30"/>
          <p:cNvGrpSpPr/>
          <p:nvPr/>
        </p:nvGrpSpPr>
        <p:grpSpPr>
          <a:xfrm>
            <a:off x="1128425" y="2749030"/>
            <a:ext cx="1354898" cy="2464638"/>
            <a:chOff x="2898923" y="1203250"/>
            <a:chExt cx="2451691" cy="4506436"/>
          </a:xfrm>
        </p:grpSpPr>
        <p:sp>
          <p:nvSpPr>
            <p:cNvPr id="32" name="Oval 31"/>
            <p:cNvSpPr/>
            <p:nvPr/>
          </p:nvSpPr>
          <p:spPr>
            <a:xfrm>
              <a:off x="4780886" y="1203250"/>
              <a:ext cx="552450" cy="583022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72219" y="4235080"/>
              <a:ext cx="561976" cy="400715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780886" y="3159641"/>
              <a:ext cx="552450" cy="583022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2898923" y="5126664"/>
              <a:ext cx="552450" cy="583022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788638" y="2278690"/>
              <a:ext cx="561976" cy="390525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839027" y="5018970"/>
            <a:ext cx="25951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Critical path:  3</a:t>
            </a:r>
            <a:r>
              <a:rPr lang="en-US" sz="1400" i="1" dirty="0" smtClean="0"/>
              <a:t>d</a:t>
            </a:r>
            <a:r>
              <a:rPr lang="en-US" sz="1400" baseline="-25000" dirty="0" smtClean="0"/>
              <a:t>MPY</a:t>
            </a:r>
            <a:r>
              <a:rPr lang="en-US" sz="1400" dirty="0" smtClean="0"/>
              <a:t>+2</a:t>
            </a:r>
            <a:r>
              <a:rPr lang="en-US" sz="1400" i="1" dirty="0" smtClean="0"/>
              <a:t>d</a:t>
            </a:r>
            <a:r>
              <a:rPr lang="en-US" sz="1400" baseline="-25000" dirty="0" smtClean="0"/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4322" y="5556180"/>
            <a:ext cx="2260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Resources:       2MPY</a:t>
            </a:r>
          </a:p>
          <a:p>
            <a:r>
              <a:rPr lang="en-US" sz="1400" dirty="0" smtClean="0"/>
              <a:t>                        1ADD</a:t>
            </a:r>
            <a:endParaRPr lang="en-US" sz="1400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850457" y="5281860"/>
            <a:ext cx="230383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Latency:           5 steps</a:t>
            </a:r>
            <a:endParaRPr lang="en-US" sz="1400" baseline="-25000" dirty="0" smtClean="0"/>
          </a:p>
        </p:txBody>
      </p:sp>
      <p:sp>
        <p:nvSpPr>
          <p:cNvPr id="38" name="Right Brace 37"/>
          <p:cNvSpPr/>
          <p:nvPr/>
        </p:nvSpPr>
        <p:spPr>
          <a:xfrm>
            <a:off x="3280410" y="1645920"/>
            <a:ext cx="114300" cy="42291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371850" y="1725930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5MUL,2ADD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16200000" flipH="1">
            <a:off x="2572652" y="3426898"/>
            <a:ext cx="4134654" cy="842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ight Brace 46"/>
          <p:cNvSpPr/>
          <p:nvPr/>
        </p:nvSpPr>
        <p:spPr>
          <a:xfrm>
            <a:off x="7772400" y="1645920"/>
            <a:ext cx="114300" cy="42291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863840" y="1725930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6MUL,2ADD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23459" y="2183130"/>
            <a:ext cx="2846071" cy="3440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3" name="Group 49"/>
          <p:cNvGrpSpPr/>
          <p:nvPr/>
        </p:nvGrpSpPr>
        <p:grpSpPr>
          <a:xfrm>
            <a:off x="4865604" y="2677778"/>
            <a:ext cx="2737794" cy="2441632"/>
            <a:chOff x="1859659" y="1175111"/>
            <a:chExt cx="5314323" cy="4447933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1859659" y="1175111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1869184" y="2306817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1869184" y="3438523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1869184" y="4559596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1859659" y="5621750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5"/>
          <p:cNvGrpSpPr/>
          <p:nvPr/>
        </p:nvGrpSpPr>
        <p:grpSpPr>
          <a:xfrm>
            <a:off x="5961660" y="3351787"/>
            <a:ext cx="1237939" cy="1733470"/>
            <a:chOff x="3987209" y="2402958"/>
            <a:chExt cx="2402959" cy="3157870"/>
          </a:xfrm>
        </p:grpSpPr>
        <p:sp>
          <p:nvSpPr>
            <p:cNvPr id="57" name="Rounded Rectangle 56"/>
            <p:cNvSpPr/>
            <p:nvPr/>
          </p:nvSpPr>
          <p:spPr>
            <a:xfrm>
              <a:off x="4561368" y="2402958"/>
              <a:ext cx="1828800" cy="978195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987209" y="4731488"/>
              <a:ext cx="1063256" cy="829340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58"/>
          <p:cNvGrpSpPr/>
          <p:nvPr/>
        </p:nvGrpSpPr>
        <p:grpSpPr>
          <a:xfrm>
            <a:off x="5837723" y="2820656"/>
            <a:ext cx="792205" cy="2200398"/>
            <a:chOff x="3746636" y="1435394"/>
            <a:chExt cx="1537746" cy="4008475"/>
          </a:xfrm>
        </p:grpSpPr>
        <p:sp>
          <p:nvSpPr>
            <p:cNvPr id="60" name="Oval 59"/>
            <p:cNvSpPr/>
            <p:nvPr/>
          </p:nvSpPr>
          <p:spPr>
            <a:xfrm>
              <a:off x="3838353" y="1435394"/>
              <a:ext cx="616689" cy="648587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746636" y="2735890"/>
              <a:ext cx="623341" cy="443245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203840" y="5000624"/>
              <a:ext cx="623341" cy="443245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4667693" y="3827719"/>
              <a:ext cx="616689" cy="648587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548866" y="4992271"/>
            <a:ext cx="25951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Critical path:  2</a:t>
            </a:r>
            <a:r>
              <a:rPr lang="en-US" sz="1400" i="1" dirty="0" smtClean="0"/>
              <a:t>d</a:t>
            </a:r>
            <a:r>
              <a:rPr lang="en-US" sz="1400" baseline="-25000" dirty="0" smtClean="0"/>
              <a:t>MPY</a:t>
            </a:r>
            <a:r>
              <a:rPr lang="en-US" sz="1400" dirty="0" smtClean="0"/>
              <a:t>+2</a:t>
            </a:r>
            <a:r>
              <a:rPr lang="en-US" sz="1400" i="1" dirty="0" smtClean="0"/>
              <a:t>d</a:t>
            </a:r>
            <a:r>
              <a:rPr lang="en-US" sz="1400" baseline="-25000" dirty="0" smtClean="0"/>
              <a:t>ADD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4161" y="5529481"/>
            <a:ext cx="213552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Resources:       2MPY</a:t>
            </a:r>
          </a:p>
          <a:p>
            <a:r>
              <a:rPr lang="en-US" sz="1400" dirty="0" smtClean="0"/>
              <a:t>                       1ADD</a:t>
            </a:r>
            <a:endParaRPr lang="en-US" sz="1400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6560296" y="5255161"/>
            <a:ext cx="230383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Latency:           4 steps</a:t>
            </a:r>
            <a:endParaRPr lang="en-US" sz="1400" baseline="-25000" dirty="0" smtClean="0"/>
          </a:p>
        </p:txBody>
      </p:sp>
      <p:grpSp>
        <p:nvGrpSpPr>
          <p:cNvPr id="21" name="Group 81"/>
          <p:cNvGrpSpPr/>
          <p:nvPr/>
        </p:nvGrpSpPr>
        <p:grpSpPr>
          <a:xfrm>
            <a:off x="3096928" y="5005738"/>
            <a:ext cx="6047072" cy="574508"/>
            <a:chOff x="2988644" y="5414812"/>
            <a:chExt cx="6047072" cy="574508"/>
          </a:xfrm>
        </p:grpSpPr>
        <p:sp>
          <p:nvSpPr>
            <p:cNvPr id="78" name="Rounded Rectangle 77"/>
            <p:cNvSpPr/>
            <p:nvPr/>
          </p:nvSpPr>
          <p:spPr>
            <a:xfrm>
              <a:off x="7801878" y="5417820"/>
              <a:ext cx="1233838" cy="5715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2988644" y="5414812"/>
              <a:ext cx="1222409" cy="5715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4" name="Object 63"/>
          <p:cNvGraphicFramePr>
            <a:graphicFrameLocks noChangeAspect="1"/>
          </p:cNvGraphicFramePr>
          <p:nvPr/>
        </p:nvGraphicFramePr>
        <p:xfrm>
          <a:off x="4716779" y="1714500"/>
          <a:ext cx="2988469" cy="318770"/>
        </p:xfrm>
        <a:graphic>
          <a:graphicData uri="http://schemas.openxmlformats.org/presentationml/2006/ole">
            <p:oleObj spid="_x0000_s55300" name="Equation" r:id="rId7" imgW="1904760" imgH="203040" progId="Equation.3">
              <p:embed/>
            </p:oleObj>
          </a:graphicData>
        </a:graphic>
      </p:graphicFrame>
      <p:grpSp>
        <p:nvGrpSpPr>
          <p:cNvPr id="28" name="Group 67"/>
          <p:cNvGrpSpPr/>
          <p:nvPr/>
        </p:nvGrpSpPr>
        <p:grpSpPr>
          <a:xfrm>
            <a:off x="3313495" y="5592278"/>
            <a:ext cx="5395562" cy="447575"/>
            <a:chOff x="3108960" y="5466548"/>
            <a:chExt cx="5395562" cy="447575"/>
          </a:xfrm>
        </p:grpSpPr>
        <p:sp>
          <p:nvSpPr>
            <p:cNvPr id="69" name="Rounded Rectangle 68"/>
            <p:cNvSpPr/>
            <p:nvPr/>
          </p:nvSpPr>
          <p:spPr>
            <a:xfrm>
              <a:off x="7681562" y="5466548"/>
              <a:ext cx="822960" cy="44757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3108960" y="5474970"/>
              <a:ext cx="668956" cy="43915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3472249" y="3081720"/>
            <a:ext cx="11305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CSE</a:t>
            </a:r>
          </a:p>
          <a:p>
            <a:r>
              <a:rPr lang="en-US" sz="1400" dirty="0" smtClean="0"/>
              <a:t>optimizes</a:t>
            </a:r>
          </a:p>
          <a:p>
            <a:r>
              <a:rPr lang="en-US" sz="1400" dirty="0" smtClean="0"/>
              <a:t>operations</a:t>
            </a:r>
          </a:p>
          <a:p>
            <a:endParaRPr lang="en-US" dirty="0"/>
          </a:p>
        </p:txBody>
      </p:sp>
      <p:sp>
        <p:nvSpPr>
          <p:cNvPr id="74" name="Up Arrow 73"/>
          <p:cNvSpPr/>
          <p:nvPr/>
        </p:nvSpPr>
        <p:spPr bwMode="auto">
          <a:xfrm>
            <a:off x="3781168" y="2056109"/>
            <a:ext cx="234778" cy="951470"/>
          </a:xfrm>
          <a:prstGeom prst="up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566160" y="385120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FIG1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83" name="Group 82"/>
          <p:cNvGrpSpPr/>
          <p:nvPr/>
        </p:nvGrpSpPr>
        <p:grpSpPr>
          <a:xfrm>
            <a:off x="7735330" y="2419004"/>
            <a:ext cx="1468672" cy="2249249"/>
            <a:chOff x="7735330" y="2419004"/>
            <a:chExt cx="1468672" cy="2249249"/>
          </a:xfrm>
        </p:grpSpPr>
        <p:sp>
          <p:nvSpPr>
            <p:cNvPr id="79" name="TextBox 78"/>
            <p:cNvSpPr txBox="1"/>
            <p:nvPr/>
          </p:nvSpPr>
          <p:spPr>
            <a:xfrm>
              <a:off x="7735330" y="2743200"/>
              <a:ext cx="14686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TED</a:t>
              </a:r>
            </a:p>
            <a:p>
              <a:r>
                <a:rPr lang="en-US" sz="1400" dirty="0" smtClean="0"/>
                <a:t>optimizes</a:t>
              </a:r>
            </a:p>
            <a:p>
              <a:r>
                <a:rPr lang="en-US" sz="1400" dirty="0" smtClean="0"/>
                <a:t>HW objectives</a:t>
              </a:r>
            </a:p>
            <a:p>
              <a:endParaRPr lang="en-US" dirty="0"/>
            </a:p>
          </p:txBody>
        </p:sp>
        <p:sp>
          <p:nvSpPr>
            <p:cNvPr id="80" name="Down Arrow 79"/>
            <p:cNvSpPr/>
            <p:nvPr/>
          </p:nvSpPr>
          <p:spPr bwMode="auto">
            <a:xfrm>
              <a:off x="8266669" y="3546389"/>
              <a:ext cx="227625" cy="1121864"/>
            </a:xfrm>
            <a:prstGeom prst="downArrow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Genev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05404" y="2419004"/>
              <a:ext cx="742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2">
                      <a:lumMod val="50000"/>
                    </a:schemeClr>
                  </a:solidFill>
                </a:rPr>
                <a:t>FIG2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65" grpId="0" animBg="1"/>
      <p:bldP spid="66" grpId="0" animBg="1"/>
      <p:bldP spid="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Optimizing DFGs for HW (TED Decomposition)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9815" y="1798877"/>
            <a:ext cx="479769" cy="121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Arrow 4"/>
          <p:cNvSpPr/>
          <p:nvPr/>
        </p:nvSpPr>
        <p:spPr>
          <a:xfrm>
            <a:off x="2031633" y="2563938"/>
            <a:ext cx="1731111" cy="37914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3"/>
          <p:cNvGrpSpPr/>
          <p:nvPr/>
        </p:nvGrpSpPr>
        <p:grpSpPr>
          <a:xfrm>
            <a:off x="5019856" y="1465010"/>
            <a:ext cx="3577647" cy="3109087"/>
            <a:chOff x="4796288" y="2160878"/>
            <a:chExt cx="4122926" cy="3567061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96288" y="2211113"/>
              <a:ext cx="1673524" cy="350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407845" y="2160878"/>
              <a:ext cx="2511369" cy="35670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2" name="TextBox 21"/>
          <p:cNvSpPr txBox="1"/>
          <p:nvPr/>
        </p:nvSpPr>
        <p:spPr>
          <a:xfrm>
            <a:off x="4892350" y="5247918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/>
              <a:t>1</a:t>
            </a:r>
          </a:p>
          <a:p>
            <a:r>
              <a:rPr lang="en-US" sz="900" dirty="0" smtClean="0"/>
              <a:t>2</a:t>
            </a:r>
          </a:p>
          <a:p>
            <a:r>
              <a:rPr lang="en-US" sz="900" dirty="0" smtClean="0"/>
              <a:t>3</a:t>
            </a:r>
          </a:p>
          <a:p>
            <a:r>
              <a:rPr lang="en-US" sz="900" dirty="0" smtClean="0"/>
              <a:t>4</a:t>
            </a:r>
            <a:endParaRPr lang="en-US" sz="900" dirty="0"/>
          </a:p>
        </p:txBody>
      </p:sp>
      <p:grpSp>
        <p:nvGrpSpPr>
          <p:cNvPr id="6" name="Group 22"/>
          <p:cNvGrpSpPr/>
          <p:nvPr/>
        </p:nvGrpSpPr>
        <p:grpSpPr>
          <a:xfrm>
            <a:off x="5143810" y="5324535"/>
            <a:ext cx="3417570" cy="502920"/>
            <a:chOff x="5292090" y="6263640"/>
            <a:chExt cx="3417570" cy="502920"/>
          </a:xfrm>
        </p:grpSpPr>
        <p:sp>
          <p:nvSpPr>
            <p:cNvPr id="24" name="Rectangle 23"/>
            <p:cNvSpPr/>
            <p:nvPr/>
          </p:nvSpPr>
          <p:spPr>
            <a:xfrm>
              <a:off x="5292090" y="6263640"/>
              <a:ext cx="3417570" cy="12573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292090" y="6389370"/>
              <a:ext cx="3417570" cy="12573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92090" y="6515100"/>
              <a:ext cx="3417570" cy="12573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292090" y="6640830"/>
              <a:ext cx="3417570" cy="12573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15000" y="6263640"/>
              <a:ext cx="388620" cy="50292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29400" y="6263640"/>
              <a:ext cx="388620" cy="50292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418070" y="6263640"/>
              <a:ext cx="388620" cy="50292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321040" y="6263640"/>
              <a:ext cx="388620" cy="502920"/>
            </a:xfrm>
            <a:prstGeom prst="rect">
              <a:avLst/>
            </a:prstGeom>
            <a:noFill/>
            <a:ln w="3175">
              <a:solidFill>
                <a:schemeClr val="accent4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31"/>
          <p:cNvGrpSpPr/>
          <p:nvPr/>
        </p:nvGrpSpPr>
        <p:grpSpPr>
          <a:xfrm>
            <a:off x="5155240" y="5335965"/>
            <a:ext cx="1725930" cy="114300"/>
            <a:chOff x="5303520" y="6275070"/>
            <a:chExt cx="1725930" cy="114300"/>
          </a:xfrm>
        </p:grpSpPr>
        <p:sp>
          <p:nvSpPr>
            <p:cNvPr id="33" name="Rectangle 32"/>
            <p:cNvSpPr/>
            <p:nvPr/>
          </p:nvSpPr>
          <p:spPr>
            <a:xfrm>
              <a:off x="5303520" y="6275070"/>
              <a:ext cx="800100" cy="1143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40830" y="6275070"/>
              <a:ext cx="388620" cy="1143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8184190" y="5701725"/>
            <a:ext cx="377190" cy="1257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35"/>
          <p:cNvGrpSpPr/>
          <p:nvPr/>
        </p:nvGrpSpPr>
        <p:grpSpPr>
          <a:xfrm>
            <a:off x="5955340" y="5461695"/>
            <a:ext cx="2217420" cy="114300"/>
            <a:chOff x="6103620" y="6400800"/>
            <a:chExt cx="2217420" cy="114300"/>
          </a:xfrm>
          <a:solidFill>
            <a:schemeClr val="accent2">
              <a:lumMod val="75000"/>
            </a:schemeClr>
          </a:solidFill>
        </p:grpSpPr>
        <p:sp>
          <p:nvSpPr>
            <p:cNvPr id="37" name="Rectangle 36"/>
            <p:cNvSpPr/>
            <p:nvPr/>
          </p:nvSpPr>
          <p:spPr>
            <a:xfrm>
              <a:off x="6103620" y="6400800"/>
              <a:ext cx="537210" cy="1143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818120" y="6400800"/>
              <a:ext cx="502920" cy="1143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6869740" y="5587425"/>
            <a:ext cx="800100" cy="1143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9710" y="1293716"/>
            <a:ext cx="1655334" cy="472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Box 47"/>
          <p:cNvSpPr txBox="1"/>
          <p:nvPr/>
        </p:nvSpPr>
        <p:spPr>
          <a:xfrm>
            <a:off x="1506400" y="1831048"/>
            <a:ext cx="20249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Product term extraction</a:t>
            </a:r>
          </a:p>
          <a:p>
            <a:r>
              <a:rPr lang="en-US" sz="1200" dirty="0" smtClean="0"/>
              <a:t>    Sum term extraction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 dynamic factorization</a:t>
            </a:r>
          </a:p>
          <a:p>
            <a:r>
              <a:rPr lang="en-US" sz="1200" dirty="0"/>
              <a:t> </a:t>
            </a:r>
            <a:r>
              <a:rPr lang="en-US" sz="1200" dirty="0" smtClean="0"/>
              <a:t>                  reordering</a:t>
            </a:r>
            <a:endParaRPr lang="en-US" sz="1200" dirty="0"/>
          </a:p>
        </p:txBody>
      </p:sp>
      <p:sp>
        <p:nvSpPr>
          <p:cNvPr id="49" name="Right Brace 48"/>
          <p:cNvSpPr/>
          <p:nvPr/>
        </p:nvSpPr>
        <p:spPr bwMode="auto">
          <a:xfrm>
            <a:off x="4481459" y="1829025"/>
            <a:ext cx="172994" cy="1186249"/>
          </a:xfrm>
          <a:prstGeom prst="rightBrace">
            <a:avLst>
              <a:gd name="adj1" fmla="val 36111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50" name="Right Brace 49"/>
          <p:cNvSpPr/>
          <p:nvPr/>
        </p:nvSpPr>
        <p:spPr bwMode="auto">
          <a:xfrm rot="5400000">
            <a:off x="6691183" y="3052121"/>
            <a:ext cx="154462" cy="33425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979774" y="3558746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X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87547" y="3571103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X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51374" y="3249826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X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95321" y="2607276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75000"/>
                  </a:schemeClr>
                </a:solidFill>
              </a:rPr>
              <a:t>+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51127" y="2829698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75000"/>
                  </a:schemeClr>
                </a:solidFill>
              </a:rPr>
              <a:t>+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72650" y="3731739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</a:rPr>
              <a:t>X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30997" y="2866766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</a:rPr>
              <a:t>X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20684" y="2038866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</a:rPr>
              <a:t>+</a:t>
            </a:r>
            <a:endParaRPr lang="en-US" sz="1400" b="1" dirty="0">
              <a:solidFill>
                <a:schemeClr val="accent4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9" name="Right Arrow 58"/>
          <p:cNvSpPr/>
          <p:nvPr/>
        </p:nvSpPr>
        <p:spPr>
          <a:xfrm rot="5400000">
            <a:off x="6591020" y="4858896"/>
            <a:ext cx="384513" cy="37914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968314" y="4868561"/>
            <a:ext cx="2854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DFG            ASAP schedule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3566159" y="5212754"/>
            <a:ext cx="15666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Resources: </a:t>
            </a:r>
            <a:r>
              <a:rPr lang="en-US" sz="1100" dirty="0" smtClean="0">
                <a:solidFill>
                  <a:srgbClr val="FF0000"/>
                </a:solidFill>
              </a:rPr>
              <a:t>3MPY</a:t>
            </a:r>
            <a:r>
              <a:rPr lang="en-US" sz="1100" dirty="0" smtClean="0"/>
              <a:t> </a:t>
            </a:r>
          </a:p>
          <a:p>
            <a:r>
              <a:rPr lang="en-US" sz="1100" dirty="0" smtClean="0">
                <a:solidFill>
                  <a:schemeClr val="accent2">
                    <a:lumMod val="75000"/>
                  </a:schemeClr>
                </a:solidFill>
              </a:rPr>
              <a:t>                 2ADD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738484" y="5622550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Latency: 4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3003" y="1496291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FIG1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832167" y="1379913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FIG2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0" y="248589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additive</a:t>
            </a:r>
          </a:p>
          <a:p>
            <a:r>
              <a:rPr lang="en-US" sz="1000" dirty="0" smtClean="0"/>
              <a:t>edge</a:t>
            </a:r>
            <a:endParaRPr lang="en-US" sz="1000" dirty="0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466186" y="2768138"/>
            <a:ext cx="331836" cy="2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4302877"/>
            <a:ext cx="545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linear</a:t>
            </a:r>
          </a:p>
          <a:p>
            <a:r>
              <a:rPr lang="en-US" sz="1000" dirty="0" smtClean="0"/>
              <a:t>edge</a:t>
            </a:r>
            <a:endParaRPr lang="en-US" sz="1000" dirty="0"/>
          </a:p>
        </p:txBody>
      </p:sp>
      <p:cxnSp>
        <p:nvCxnSpPr>
          <p:cNvPr id="63" name="Straight Arrow Connector 62"/>
          <p:cNvCxnSpPr/>
          <p:nvPr/>
        </p:nvCxnSpPr>
        <p:spPr>
          <a:xfrm rot="16200000" flipH="1">
            <a:off x="356928" y="4705522"/>
            <a:ext cx="173529" cy="1059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 bwMode="auto">
          <a:xfrm>
            <a:off x="5503025" y="3898669"/>
            <a:ext cx="290946" cy="182880"/>
          </a:xfrm>
          <a:prstGeom prst="ellipse">
            <a:avLst/>
          </a:prstGeom>
          <a:solidFill>
            <a:srgbClr val="FFC000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6467301" y="3566160"/>
            <a:ext cx="290946" cy="182880"/>
          </a:xfrm>
          <a:prstGeom prst="ellipse">
            <a:avLst/>
          </a:prstGeom>
          <a:solidFill>
            <a:srgbClr val="FFC000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6808123" y="3557847"/>
            <a:ext cx="290946" cy="182880"/>
          </a:xfrm>
          <a:prstGeom prst="ellipse">
            <a:avLst/>
          </a:prstGeom>
          <a:solidFill>
            <a:srgbClr val="FFC000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1055716" y="5212080"/>
            <a:ext cx="349135" cy="216131"/>
          </a:xfrm>
          <a:prstGeom prst="ellipse">
            <a:avLst/>
          </a:prstGeom>
          <a:solidFill>
            <a:srgbClr val="FFC000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490450" y="5212080"/>
            <a:ext cx="349135" cy="216131"/>
          </a:xfrm>
          <a:prstGeom prst="ellipse">
            <a:avLst/>
          </a:prstGeom>
          <a:solidFill>
            <a:srgbClr val="FFC000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cxnSp>
        <p:nvCxnSpPr>
          <p:cNvPr id="75" name="Straight Arrow Connector 74"/>
          <p:cNvCxnSpPr/>
          <p:nvPr/>
        </p:nvCxnSpPr>
        <p:spPr bwMode="auto">
          <a:xfrm>
            <a:off x="1039091" y="4148051"/>
            <a:ext cx="1230284" cy="1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2292350" y="4025900"/>
          <a:ext cx="990600" cy="254000"/>
        </p:xfrm>
        <a:graphic>
          <a:graphicData uri="http://schemas.openxmlformats.org/presentationml/2006/ole">
            <p:oleObj spid="_x0000_s57346" name="Equation" r:id="rId7" imgW="888840" imgH="228600" progId="Equation.3">
              <p:embed/>
            </p:oleObj>
          </a:graphicData>
        </a:graphic>
      </p:graphicFrame>
      <p:graphicFrame>
        <p:nvGraphicFramePr>
          <p:cNvPr id="76" name="Object 1"/>
          <p:cNvGraphicFramePr>
            <a:graphicFrameLocks noChangeAspect="1"/>
          </p:cNvGraphicFramePr>
          <p:nvPr/>
        </p:nvGraphicFramePr>
        <p:xfrm>
          <a:off x="2458347" y="4272048"/>
          <a:ext cx="890587" cy="225425"/>
        </p:xfrm>
        <a:graphic>
          <a:graphicData uri="http://schemas.openxmlformats.org/presentationml/2006/ole">
            <p:oleObj spid="_x0000_s57347" name="Equation" r:id="rId8" imgW="799920" imgH="203040" progId="Equation.3">
              <p:embed/>
            </p:oleObj>
          </a:graphicData>
        </a:graphic>
      </p:graphicFrame>
      <p:sp>
        <p:nvSpPr>
          <p:cNvPr id="77" name="Oval 76"/>
          <p:cNvSpPr/>
          <p:nvPr/>
        </p:nvSpPr>
        <p:spPr bwMode="auto">
          <a:xfrm>
            <a:off x="5993476" y="2485505"/>
            <a:ext cx="290946" cy="182880"/>
          </a:xfrm>
          <a:prstGeom prst="ellipse">
            <a:avLst/>
          </a:prstGeom>
          <a:solidFill>
            <a:schemeClr val="accent6">
              <a:lumMod val="60000"/>
              <a:lumOff val="40000"/>
              <a:alpha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78" name="Isosceles Triangle 77"/>
          <p:cNvSpPr/>
          <p:nvPr/>
        </p:nvSpPr>
        <p:spPr bwMode="auto">
          <a:xfrm rot="10800000">
            <a:off x="5486397" y="1521229"/>
            <a:ext cx="315885" cy="174568"/>
          </a:xfrm>
          <a:prstGeom prst="triangle">
            <a:avLst/>
          </a:prstGeom>
          <a:solidFill>
            <a:srgbClr val="7878DE">
              <a:alpha val="4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cxnSp>
        <p:nvCxnSpPr>
          <p:cNvPr id="80" name="Straight Arrow Connector 79"/>
          <p:cNvCxnSpPr/>
          <p:nvPr/>
        </p:nvCxnSpPr>
        <p:spPr bwMode="auto">
          <a:xfrm rot="16200000" flipV="1">
            <a:off x="5515497" y="1874522"/>
            <a:ext cx="739831" cy="365758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55232" y="1347536"/>
            <a:ext cx="4865370" cy="453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Graph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8052" y="4943893"/>
            <a:ext cx="2601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Path delay 2d</a:t>
            </a:r>
            <a:r>
              <a:rPr lang="en-US" sz="1600" baseline="-25000" dirty="0" smtClean="0"/>
              <a:t>MPY</a:t>
            </a:r>
            <a:r>
              <a:rPr lang="en-US" sz="1600" dirty="0" smtClean="0"/>
              <a:t>+2d</a:t>
            </a:r>
            <a:r>
              <a:rPr lang="en-US" sz="1600" baseline="-25000" dirty="0" smtClean="0"/>
              <a:t>ADD</a:t>
            </a:r>
          </a:p>
          <a:p>
            <a:r>
              <a:rPr lang="en-US" sz="1600" dirty="0" smtClean="0"/>
              <a:t>Latency      4 steps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320598" y="5676249"/>
            <a:ext cx="2849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Resource    3MPY &amp; 2ADD</a:t>
            </a:r>
            <a:endParaRPr lang="en-US" sz="16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793" y="1949180"/>
            <a:ext cx="479769" cy="121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1"/>
          <p:cNvGrpSpPr/>
          <p:nvPr/>
        </p:nvGrpSpPr>
        <p:grpSpPr>
          <a:xfrm>
            <a:off x="250298" y="1363493"/>
            <a:ext cx="1413250" cy="1302589"/>
            <a:chOff x="4796288" y="2160878"/>
            <a:chExt cx="4122926" cy="3567061"/>
          </a:xfrm>
        </p:grpSpPr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796288" y="2211113"/>
              <a:ext cx="1673524" cy="350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407845" y="2160878"/>
              <a:ext cx="2511369" cy="35670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5" name="TextBox 14"/>
          <p:cNvSpPr txBox="1"/>
          <p:nvPr/>
        </p:nvSpPr>
        <p:spPr>
          <a:xfrm>
            <a:off x="594911" y="272116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NFF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2397832" y="2359039"/>
            <a:ext cx="691375" cy="37914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95304" y="300666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total: 5× , 3+</a:t>
            </a:r>
          </a:p>
        </p:txBody>
      </p:sp>
      <p:grpSp>
        <p:nvGrpSpPr>
          <p:cNvPr id="4" name="Group 26"/>
          <p:cNvGrpSpPr/>
          <p:nvPr/>
        </p:nvGrpSpPr>
        <p:grpSpPr>
          <a:xfrm>
            <a:off x="297179" y="3966348"/>
            <a:ext cx="2903220" cy="2068692"/>
            <a:chOff x="6643171" y="4263528"/>
            <a:chExt cx="2016579" cy="2068692"/>
          </a:xfrm>
        </p:grpSpPr>
        <p:sp>
          <p:nvSpPr>
            <p:cNvPr id="21" name="Rounded Rectangle 20"/>
            <p:cNvSpPr/>
            <p:nvPr/>
          </p:nvSpPr>
          <p:spPr>
            <a:xfrm>
              <a:off x="6643171" y="5188944"/>
              <a:ext cx="2016579" cy="114327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021983" y="4263528"/>
              <a:ext cx="1252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Reordering cost</a:t>
              </a:r>
              <a:endParaRPr lang="en-US" dirty="0"/>
            </a:p>
          </p:txBody>
        </p:sp>
        <p:cxnSp>
          <p:nvCxnSpPr>
            <p:cNvPr id="24" name="Straight Arrow Connector 23"/>
            <p:cNvCxnSpPr>
              <a:stCxn id="21" idx="0"/>
              <a:endCxn id="22" idx="2"/>
            </p:cNvCxnSpPr>
            <p:nvPr/>
          </p:nvCxnSpPr>
          <p:spPr>
            <a:xfrm rot="16200000" flipV="1">
              <a:off x="7371893" y="4909375"/>
              <a:ext cx="556084" cy="30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27"/>
          <p:cNvGrpSpPr/>
          <p:nvPr/>
        </p:nvGrpSpPr>
        <p:grpSpPr>
          <a:xfrm>
            <a:off x="3300296" y="1941888"/>
            <a:ext cx="4072656" cy="3337560"/>
            <a:chOff x="1859659" y="1175111"/>
            <a:chExt cx="5314323" cy="4447933"/>
          </a:xfrm>
        </p:grpSpPr>
        <p:cxnSp>
          <p:nvCxnSpPr>
            <p:cNvPr id="29" name="Straight Connector 28"/>
            <p:cNvCxnSpPr/>
            <p:nvPr/>
          </p:nvCxnSpPr>
          <p:spPr>
            <a:xfrm flipV="1">
              <a:off x="1859659" y="1175111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1869184" y="2306817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1869184" y="3438523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1869184" y="4559596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859659" y="5621750"/>
              <a:ext cx="5304798" cy="1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3"/>
          <p:cNvGrpSpPr/>
          <p:nvPr/>
        </p:nvGrpSpPr>
        <p:grpSpPr>
          <a:xfrm>
            <a:off x="4206842" y="2136197"/>
            <a:ext cx="2640330" cy="1416228"/>
            <a:chOff x="4399738" y="2422706"/>
            <a:chExt cx="4068933" cy="2446926"/>
          </a:xfrm>
        </p:grpSpPr>
        <p:sp>
          <p:nvSpPr>
            <p:cNvPr id="35" name="Rounded Rectangle 34"/>
            <p:cNvSpPr/>
            <p:nvPr/>
          </p:nvSpPr>
          <p:spPr>
            <a:xfrm>
              <a:off x="4399738" y="2422706"/>
              <a:ext cx="4033704" cy="1086167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857713" y="3864347"/>
              <a:ext cx="3610958" cy="1005285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36"/>
          <p:cNvGrpSpPr/>
          <p:nvPr/>
        </p:nvGrpSpPr>
        <p:grpSpPr>
          <a:xfrm>
            <a:off x="4287024" y="2225084"/>
            <a:ext cx="1333747" cy="2825162"/>
            <a:chOff x="3838353" y="1435394"/>
            <a:chExt cx="1704653" cy="3897271"/>
          </a:xfrm>
        </p:grpSpPr>
        <p:sp>
          <p:nvSpPr>
            <p:cNvPr id="38" name="Oval 37"/>
            <p:cNvSpPr/>
            <p:nvPr/>
          </p:nvSpPr>
          <p:spPr>
            <a:xfrm>
              <a:off x="3838353" y="1435394"/>
              <a:ext cx="616689" cy="648587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272546" y="2657052"/>
              <a:ext cx="623341" cy="443245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919665" y="4822308"/>
              <a:ext cx="623341" cy="510357"/>
            </a:xfrm>
            <a:prstGeom prst="rect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264088" y="3627296"/>
              <a:ext cx="640472" cy="691335"/>
            </a:xfrm>
            <a:prstGeom prst="ellipse">
              <a:avLst/>
            </a:prstGeom>
            <a:solidFill>
              <a:srgbClr val="A6A6A6">
                <a:alpha val="30196"/>
              </a:srgb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Retiming in TED</a:t>
            </a:r>
            <a:endParaRPr lang="en-US" dirty="0"/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1003" y="4516669"/>
            <a:ext cx="2129141" cy="1784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rot="5400000">
            <a:off x="3761859" y="3794908"/>
            <a:ext cx="1404650" cy="179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923355" y="2540232"/>
            <a:ext cx="5924550" cy="950595"/>
            <a:chOff x="1108710" y="2960370"/>
            <a:chExt cx="5924550" cy="950595"/>
          </a:xfrm>
        </p:grpSpPr>
        <p:pic>
          <p:nvPicPr>
            <p:cNvPr id="13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70660" y="3015615"/>
              <a:ext cx="5562600" cy="895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TextBox 13"/>
            <p:cNvSpPr txBox="1"/>
            <p:nvPr/>
          </p:nvSpPr>
          <p:spPr>
            <a:xfrm>
              <a:off x="1108710" y="2960370"/>
              <a:ext cx="1965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Taylor decomposition:</a:t>
              </a:r>
              <a:endParaRPr lang="en-US" sz="1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4785" y="3546072"/>
            <a:ext cx="7429500" cy="836295"/>
            <a:chOff x="1120140" y="3966210"/>
            <a:chExt cx="7429500" cy="836295"/>
          </a:xfrm>
        </p:grpSpPr>
        <p:grpSp>
          <p:nvGrpSpPr>
            <p:cNvPr id="16" name="Group 14"/>
            <p:cNvGrpSpPr/>
            <p:nvPr/>
          </p:nvGrpSpPr>
          <p:grpSpPr>
            <a:xfrm>
              <a:off x="1564005" y="4125278"/>
              <a:ext cx="6985635" cy="677227"/>
              <a:chOff x="1689735" y="4308158"/>
              <a:chExt cx="6985635" cy="677227"/>
            </a:xfrm>
          </p:grpSpPr>
          <p:pic>
            <p:nvPicPr>
              <p:cNvPr id="18" name="Picture 7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689735" y="4308158"/>
                <a:ext cx="5124450" cy="619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9" name="Picture 8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6846570" y="4318635"/>
                <a:ext cx="1828800" cy="666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7" name="TextBox 16"/>
            <p:cNvSpPr txBox="1"/>
            <p:nvPr/>
          </p:nvSpPr>
          <p:spPr>
            <a:xfrm>
              <a:off x="1120140" y="3966210"/>
              <a:ext cx="17876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Lineal operator ()</a:t>
              </a:r>
              <a:r>
                <a:rPr lang="en-US" sz="1400" baseline="30000" dirty="0" smtClean="0"/>
                <a:t>R</a:t>
              </a:r>
              <a:r>
                <a:rPr lang="en-US" sz="1400" dirty="0" smtClean="0"/>
                <a:t>:</a:t>
              </a:r>
              <a:endParaRPr lang="en-US" sz="1400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95416" y="1371593"/>
            <a:ext cx="8567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retime operator ()</a:t>
            </a:r>
            <a:r>
              <a:rPr lang="en-US" baseline="30000" dirty="0" smtClean="0"/>
              <a:t>R</a:t>
            </a:r>
            <a:r>
              <a:rPr lang="en-US" dirty="0" smtClean="0"/>
              <a:t>  is lineal because it is the convolution </a:t>
            </a:r>
            <a:r>
              <a:rPr lang="en-US" b="1" dirty="0" smtClean="0"/>
              <a:t>*</a:t>
            </a:r>
            <a:r>
              <a:rPr lang="en-US" dirty="0" smtClean="0"/>
              <a:t> with </a:t>
            </a:r>
          </a:p>
          <a:p>
            <a:r>
              <a:rPr lang="en-US" dirty="0" smtClean="0"/>
              <a:t>the time delayed delta Dirac </a:t>
            </a:r>
            <a:r>
              <a:rPr lang="el-GR" dirty="0" smtClean="0"/>
              <a:t>δ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Because ()</a:t>
            </a:r>
            <a:r>
              <a:rPr lang="en-US" baseline="30000" dirty="0" smtClean="0"/>
              <a:t>R</a:t>
            </a:r>
            <a:r>
              <a:rPr lang="en-US" dirty="0" smtClean="0"/>
              <a:t>  is a lineal operator, it can be applied to the TED graph. 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3571103" y="6091881"/>
            <a:ext cx="2137719" cy="210065"/>
          </a:xfrm>
          <a:prstGeom prst="rect">
            <a:avLst/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Functional Retiming</a:t>
            </a:r>
            <a:endParaRPr 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1449" y="1331372"/>
            <a:ext cx="1205069" cy="23509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84536" y="3744097"/>
            <a:ext cx="1419200" cy="232307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7257" y="1330057"/>
          <a:ext cx="2241550" cy="284162"/>
        </p:xfrm>
        <a:graphic>
          <a:graphicData uri="http://schemas.openxmlformats.org/presentationml/2006/ole">
            <p:oleObj spid="_x0000_s5122" name="Equation" r:id="rId5" imgW="1803240" imgH="228600" progId="Equation.3">
              <p:embed/>
            </p:oleObj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4942701" y="1334530"/>
            <a:ext cx="1445741" cy="4707924"/>
            <a:chOff x="4776042" y="1314449"/>
            <a:chExt cx="1627616" cy="5543551"/>
          </a:xfrm>
        </p:grpSpPr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996377" y="1314449"/>
              <a:ext cx="1001440" cy="2926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1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776042" y="4251960"/>
              <a:ext cx="1627616" cy="2606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4" name="Group 13"/>
          <p:cNvGrpSpPr/>
          <p:nvPr/>
        </p:nvGrpSpPr>
        <p:grpSpPr>
          <a:xfrm>
            <a:off x="6857999" y="1309814"/>
            <a:ext cx="1618736" cy="4534932"/>
            <a:chOff x="6844898" y="1323975"/>
            <a:chExt cx="1763796" cy="5328285"/>
          </a:xfrm>
        </p:grpSpPr>
        <p:pic>
          <p:nvPicPr>
            <p:cNvPr id="15" name="Picture 12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878705" y="1323975"/>
              <a:ext cx="936558" cy="29737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14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844898" y="4320540"/>
              <a:ext cx="1763796" cy="2331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7426325" y="1433513"/>
          <a:ext cx="1562100" cy="241300"/>
        </p:xfrm>
        <a:graphic>
          <a:graphicData uri="http://schemas.openxmlformats.org/presentationml/2006/ole">
            <p:oleObj spid="_x0000_s5123" name="Equation" r:id="rId10" imgW="1562040" imgH="241200" progId="Equation.3">
              <p:embed/>
            </p:oleObj>
          </a:graphicData>
        </a:graphic>
      </p:graphicFrame>
      <p:sp>
        <p:nvSpPr>
          <p:cNvPr id="19" name="Oval 18"/>
          <p:cNvSpPr/>
          <p:nvPr/>
        </p:nvSpPr>
        <p:spPr>
          <a:xfrm>
            <a:off x="2879124" y="2224215"/>
            <a:ext cx="318867" cy="205235"/>
          </a:xfrm>
          <a:prstGeom prst="ellipse">
            <a:avLst/>
          </a:prstGeom>
          <a:solidFill>
            <a:srgbClr val="00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279986" y="2224215"/>
            <a:ext cx="318867" cy="205235"/>
          </a:xfrm>
          <a:prstGeom prst="ellipse">
            <a:avLst/>
          </a:prstGeom>
          <a:solidFill>
            <a:srgbClr val="00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212966" y="2673777"/>
            <a:ext cx="318867" cy="205235"/>
          </a:xfrm>
          <a:prstGeom prst="ellipse">
            <a:avLst/>
          </a:prstGeom>
          <a:solidFill>
            <a:srgbClr val="FF66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635295" y="2673777"/>
            <a:ext cx="318867" cy="205235"/>
          </a:xfrm>
          <a:prstGeom prst="ellipse">
            <a:avLst/>
          </a:prstGeom>
          <a:solidFill>
            <a:srgbClr val="FF66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230468" y="2273756"/>
            <a:ext cx="318867" cy="205235"/>
          </a:xfrm>
          <a:prstGeom prst="ellipse">
            <a:avLst/>
          </a:prstGeom>
          <a:solidFill>
            <a:srgbClr val="FF66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513522" y="2723317"/>
            <a:ext cx="318867" cy="205235"/>
          </a:xfrm>
          <a:prstGeom prst="ellipse">
            <a:avLst/>
          </a:prstGeom>
          <a:solidFill>
            <a:srgbClr val="0066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 bwMode="auto">
          <a:xfrm>
            <a:off x="4263080" y="2508422"/>
            <a:ext cx="642551" cy="247135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02533" y="2187146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ordering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 bwMode="auto">
          <a:xfrm>
            <a:off x="6319041" y="2508421"/>
            <a:ext cx="642551" cy="247135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51486" y="2187145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retiming</a:t>
            </a:r>
            <a:endParaRPr lang="en-US" sz="1400" dirty="0"/>
          </a:p>
        </p:txBody>
      </p:sp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27673" y="3774978"/>
            <a:ext cx="1316922" cy="210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Right Arrow 31"/>
          <p:cNvSpPr/>
          <p:nvPr/>
        </p:nvSpPr>
        <p:spPr bwMode="auto">
          <a:xfrm rot="10800000">
            <a:off x="1589552" y="4374292"/>
            <a:ext cx="642551" cy="247135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9914" y="3184625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Classic data</a:t>
            </a:r>
          </a:p>
          <a:p>
            <a:r>
              <a:rPr lang="en-US" sz="1400" dirty="0" smtClean="0"/>
              <a:t>path retiming</a:t>
            </a:r>
            <a:endParaRPr lang="en-US" sz="1400" dirty="0"/>
          </a:p>
        </p:txBody>
      </p:sp>
      <p:cxnSp>
        <p:nvCxnSpPr>
          <p:cNvPr id="39" name="Straight Connector 38"/>
          <p:cNvCxnSpPr/>
          <p:nvPr/>
        </p:nvCxnSpPr>
        <p:spPr bwMode="auto">
          <a:xfrm rot="16200000" flipH="1">
            <a:off x="1566947" y="3657599"/>
            <a:ext cx="4880919" cy="1235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 rot="16200000" flipH="1">
            <a:off x="170632" y="3963623"/>
            <a:ext cx="4255981" cy="57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Rectangle 43"/>
          <p:cNvSpPr/>
          <p:nvPr/>
        </p:nvSpPr>
        <p:spPr bwMode="auto">
          <a:xfrm>
            <a:off x="2298357" y="1235676"/>
            <a:ext cx="1705232" cy="4856205"/>
          </a:xfrm>
          <a:prstGeom prst="rect">
            <a:avLst/>
          </a:prstGeom>
          <a:solidFill>
            <a:srgbClr val="CC9900">
              <a:alpha val="10196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19251" y="562771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FIG1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38255" y="562771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FIG2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08375" y="5636031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FIG3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0" y="557784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FIG4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Fixed Point Arithmetic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415636" y="1325880"/>
            <a:ext cx="8454044" cy="1415791"/>
            <a:chOff x="415636" y="1325880"/>
            <a:chExt cx="8454044" cy="1415791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4603" y="1384157"/>
              <a:ext cx="3829050" cy="115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7" name="Straight Connector 6"/>
            <p:cNvCxnSpPr/>
            <p:nvPr/>
          </p:nvCxnSpPr>
          <p:spPr>
            <a:xfrm>
              <a:off x="415636" y="2740083"/>
              <a:ext cx="8146473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292340" y="1371241"/>
              <a:ext cx="1425286" cy="1175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9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765348" y="1814946"/>
              <a:ext cx="357085" cy="752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7010401" y="1759526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24256" y="2244436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00150" y="2125980"/>
              <a:ext cx="2597186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0" bIns="0" rtlCol="0">
              <a:spAutoFit/>
            </a:bodyPr>
            <a:lstStyle/>
            <a:p>
              <a:r>
                <a:rPr lang="en-US" sz="1200" dirty="0" smtClean="0"/>
                <a:t>Integer part               Fractional part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82930" y="1611630"/>
              <a:ext cx="3600450" cy="2514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3750" y="1325880"/>
              <a:ext cx="1725930" cy="342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4558029" y="1543050"/>
            <a:ext cx="1797051" cy="649997"/>
          </p:xfrm>
          <a:graphic>
            <a:graphicData uri="http://schemas.openxmlformats.org/presentationml/2006/ole">
              <p:oleObj spid="_x0000_s56322" name="Equation" r:id="rId6" imgW="1193760" imgH="431640" progId="Equation.3">
                <p:embed/>
              </p:oleObj>
            </a:graphicData>
          </a:graphic>
        </p:graphicFrame>
      </p:grpSp>
      <p:grpSp>
        <p:nvGrpSpPr>
          <p:cNvPr id="4" name="Group 15"/>
          <p:cNvGrpSpPr/>
          <p:nvPr/>
        </p:nvGrpSpPr>
        <p:grpSpPr>
          <a:xfrm>
            <a:off x="476251" y="2793770"/>
            <a:ext cx="6130289" cy="1409115"/>
            <a:chOff x="476251" y="2793770"/>
            <a:chExt cx="6130289" cy="1409115"/>
          </a:xfrm>
        </p:grpSpPr>
        <p:sp>
          <p:nvSpPr>
            <p:cNvPr id="17" name="TextBox 16"/>
            <p:cNvSpPr txBox="1"/>
            <p:nvPr/>
          </p:nvSpPr>
          <p:spPr>
            <a:xfrm>
              <a:off x="476251" y="2793770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Addition</a:t>
              </a:r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2743200" y="3445624"/>
              <a:ext cx="374073" cy="37407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2">
                      <a:lumMod val="50000"/>
                    </a:schemeClr>
                  </a:solidFill>
                </a:rPr>
                <a:t>+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37855" y="3057701"/>
              <a:ext cx="162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 Q(</a:t>
              </a:r>
              <a:r>
                <a:rPr lang="en-US" dirty="0" err="1" smtClean="0"/>
                <a:t>m</a:t>
              </a:r>
              <a:r>
                <a:rPr lang="en-US" sz="1100" dirty="0" err="1" smtClean="0"/>
                <a:t>a</a:t>
              </a:r>
              <a:r>
                <a:rPr lang="en-US" dirty="0" err="1" smtClean="0"/>
                <a:t>,n</a:t>
              </a:r>
              <a:r>
                <a:rPr lang="en-US" sz="1100" dirty="0" err="1" smtClean="0"/>
                <a:t>a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48691" y="3833553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  Q(</a:t>
              </a:r>
              <a:r>
                <a:rPr lang="en-US" dirty="0" err="1" smtClean="0"/>
                <a:t>m</a:t>
              </a:r>
              <a:r>
                <a:rPr lang="en-US" sz="1100" dirty="0" err="1" smtClean="0"/>
                <a:t>b</a:t>
              </a:r>
              <a:r>
                <a:rPr lang="en-US" dirty="0" err="1" smtClean="0"/>
                <a:t>,n</a:t>
              </a:r>
              <a:r>
                <a:rPr lang="en-US" sz="1100" dirty="0" err="1" smtClean="0"/>
                <a:t>b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21" name="Straight Arrow Connector 20"/>
            <p:cNvCxnSpPr>
              <a:stCxn id="18" idx="6"/>
              <a:endCxn id="24" idx="1"/>
            </p:cNvCxnSpPr>
            <p:nvPr/>
          </p:nvCxnSpPr>
          <p:spPr>
            <a:xfrm flipV="1">
              <a:off x="3117273" y="3630291"/>
              <a:ext cx="471055" cy="237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9" idx="2"/>
              <a:endCxn id="18" idx="1"/>
            </p:cNvCxnSpPr>
            <p:nvPr/>
          </p:nvCxnSpPr>
          <p:spPr>
            <a:xfrm rot="16200000" flipH="1">
              <a:off x="2536478" y="3238901"/>
              <a:ext cx="73373" cy="4496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20" idx="0"/>
              <a:endCxn id="18" idx="3"/>
            </p:cNvCxnSpPr>
            <p:nvPr/>
          </p:nvCxnSpPr>
          <p:spPr>
            <a:xfrm rot="5400000" flipH="1" flipV="1">
              <a:off x="2521721" y="3557292"/>
              <a:ext cx="68638" cy="483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588328" y="3445625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121468" y="3255645"/>
              <a:ext cx="1952625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6" name="Picture 4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091940" y="3628073"/>
              <a:ext cx="2514600" cy="333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Group 26"/>
          <p:cNvGrpSpPr/>
          <p:nvPr/>
        </p:nvGrpSpPr>
        <p:grpSpPr>
          <a:xfrm>
            <a:off x="490105" y="4640701"/>
            <a:ext cx="5333480" cy="1454835"/>
            <a:chOff x="490105" y="4736957"/>
            <a:chExt cx="5333480" cy="1454835"/>
          </a:xfrm>
        </p:grpSpPr>
        <p:sp>
          <p:nvSpPr>
            <p:cNvPr id="28" name="TextBox 27"/>
            <p:cNvSpPr txBox="1"/>
            <p:nvPr/>
          </p:nvSpPr>
          <p:spPr>
            <a:xfrm>
              <a:off x="490105" y="4736957"/>
              <a:ext cx="164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Multiplication</a:t>
              </a:r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2814204" y="5434531"/>
              <a:ext cx="374073" cy="37407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2">
                      <a:lumMod val="50000"/>
                    </a:schemeClr>
                  </a:solidFill>
                </a:rPr>
                <a:t>x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608859" y="5046608"/>
              <a:ext cx="1620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  Q(</a:t>
              </a:r>
              <a:r>
                <a:rPr lang="en-US" dirty="0" err="1" smtClean="0"/>
                <a:t>m</a:t>
              </a:r>
              <a:r>
                <a:rPr lang="en-US" sz="1100" dirty="0" err="1" smtClean="0"/>
                <a:t>a</a:t>
              </a:r>
              <a:r>
                <a:rPr lang="en-US" dirty="0" err="1" smtClean="0"/>
                <a:t>,n</a:t>
              </a:r>
              <a:r>
                <a:rPr lang="en-US" sz="1100" dirty="0" err="1" smtClean="0"/>
                <a:t>a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19695" y="5822460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  Q(</a:t>
              </a:r>
              <a:r>
                <a:rPr lang="en-US" dirty="0" err="1" smtClean="0"/>
                <a:t>m</a:t>
              </a:r>
              <a:r>
                <a:rPr lang="en-US" sz="1100" dirty="0" err="1" smtClean="0"/>
                <a:t>b</a:t>
              </a:r>
              <a:r>
                <a:rPr lang="en-US" dirty="0" err="1" smtClean="0"/>
                <a:t>,n</a:t>
              </a:r>
              <a:r>
                <a:rPr lang="en-US" sz="1100" dirty="0" err="1" smtClean="0"/>
                <a:t>b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32" name="Straight Arrow Connector 31"/>
            <p:cNvCxnSpPr>
              <a:stCxn id="29" idx="6"/>
              <a:endCxn id="35" idx="1"/>
            </p:cNvCxnSpPr>
            <p:nvPr/>
          </p:nvCxnSpPr>
          <p:spPr>
            <a:xfrm flipV="1">
              <a:off x="3188277" y="5619198"/>
              <a:ext cx="471055" cy="237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30" idx="2"/>
              <a:endCxn id="29" idx="1"/>
            </p:cNvCxnSpPr>
            <p:nvPr/>
          </p:nvCxnSpPr>
          <p:spPr>
            <a:xfrm rot="16200000" flipH="1">
              <a:off x="2607482" y="5227808"/>
              <a:ext cx="73373" cy="4496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31" idx="0"/>
              <a:endCxn id="29" idx="3"/>
            </p:cNvCxnSpPr>
            <p:nvPr/>
          </p:nvCxnSpPr>
          <p:spPr>
            <a:xfrm rot="5400000" flipH="1" flipV="1">
              <a:off x="2592725" y="5546199"/>
              <a:ext cx="68638" cy="483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659332" y="543453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pic>
          <p:nvPicPr>
            <p:cNvPr id="36" name="Picture 5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228148" y="5364480"/>
              <a:ext cx="1419225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" name="Picture 6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166235" y="5678805"/>
              <a:ext cx="1657350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cxnSp>
        <p:nvCxnSpPr>
          <p:cNvPr id="38" name="Straight Connector 37"/>
          <p:cNvCxnSpPr/>
          <p:nvPr/>
        </p:nvCxnSpPr>
        <p:spPr>
          <a:xfrm>
            <a:off x="449926" y="4568883"/>
            <a:ext cx="814647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TED With Fixed Point Arithmetic</a:t>
            </a:r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2508" y="1267624"/>
            <a:ext cx="4201669" cy="2646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021" y="1276865"/>
            <a:ext cx="2876550" cy="472440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 bwMode="auto">
          <a:xfrm>
            <a:off x="3237468" y="2174789"/>
            <a:ext cx="1037969" cy="259492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1643449"/>
            <a:ext cx="1470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Bit-accurate</a:t>
            </a:r>
          </a:p>
          <a:p>
            <a:r>
              <a:rPr lang="en-US" sz="1600" dirty="0" smtClean="0"/>
              <a:t>computation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101547" y="2409569"/>
            <a:ext cx="1544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Bit-width</a:t>
            </a:r>
          </a:p>
          <a:p>
            <a:r>
              <a:rPr lang="en-US" sz="1600" dirty="0" smtClean="0"/>
              <a:t>minimization</a:t>
            </a:r>
            <a:endParaRPr lang="en-US" sz="1600" dirty="0"/>
          </a:p>
        </p:txBody>
      </p:sp>
      <p:sp>
        <p:nvSpPr>
          <p:cNvPr id="13" name="Down Arrow 12"/>
          <p:cNvSpPr/>
          <p:nvPr/>
        </p:nvSpPr>
        <p:spPr bwMode="auto">
          <a:xfrm>
            <a:off x="6301946" y="3361038"/>
            <a:ext cx="284205" cy="766119"/>
          </a:xfrm>
          <a:prstGeom prst="downArrow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80532" y="4201298"/>
            <a:ext cx="4811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DFG optimization under accuracy constraints</a:t>
            </a:r>
          </a:p>
          <a:p>
            <a:r>
              <a:rPr lang="en-US" sz="1600" dirty="0" smtClean="0"/>
              <a:t>HW accuracy certification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536724" y="3348684"/>
            <a:ext cx="2639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Uses </a:t>
            </a:r>
            <a:r>
              <a:rPr lang="en-US" sz="1600" dirty="0" err="1" smtClean="0"/>
              <a:t>Gappa</a:t>
            </a:r>
            <a:r>
              <a:rPr lang="en-US" sz="1600" dirty="0"/>
              <a:t>:</a:t>
            </a:r>
            <a:endParaRPr lang="en-US" sz="1600" dirty="0" smtClean="0"/>
          </a:p>
          <a:p>
            <a:r>
              <a:rPr lang="en-US" sz="1600" dirty="0" smtClean="0"/>
              <a:t>arithmetic property tool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with GAUT</a:t>
            </a:r>
            <a:endParaRPr lang="en-US" dirty="0"/>
          </a:p>
        </p:txBody>
      </p:sp>
      <p:pic>
        <p:nvPicPr>
          <p:cNvPr id="5" name="Picture 15" descr="example-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443738"/>
            <a:ext cx="3563938" cy="3790950"/>
          </a:xfrm>
          <a:prstGeom prst="rect">
            <a:avLst/>
          </a:prstGeom>
          <a:noFill/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62000" y="5634738"/>
            <a:ext cx="3397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1" hangingPunct="1"/>
            <a:r>
              <a:rPr lang="en-US" altLang="zh-CN" sz="1800">
                <a:latin typeface="Arial" charset="0"/>
                <a:ea typeface="宋体" pitchFamily="2" charset="-122"/>
              </a:rPr>
              <a:t>Example behavioral design in C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477358" y="5639501"/>
            <a:ext cx="211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1" hangingPunct="1"/>
            <a:r>
              <a:rPr lang="en-US" altLang="zh-CN" sz="1800" dirty="0">
                <a:latin typeface="Arial" charset="0"/>
                <a:ea typeface="宋体" pitchFamily="2" charset="-122"/>
              </a:rPr>
              <a:t>Initial </a:t>
            </a:r>
            <a:r>
              <a:rPr lang="en-US" altLang="zh-CN" sz="1800" dirty="0" smtClean="0">
                <a:latin typeface="Arial" charset="0"/>
                <a:ea typeface="宋体" pitchFamily="2" charset="-122"/>
              </a:rPr>
              <a:t>TDS network</a:t>
            </a:r>
            <a:endParaRPr lang="en-US" altLang="zh-CN" sz="1800" dirty="0">
              <a:latin typeface="Arial" charset="0"/>
              <a:ea typeface="宋体" pitchFamily="2" charset="-122"/>
            </a:endParaRPr>
          </a:p>
        </p:txBody>
      </p:sp>
      <p:pic>
        <p:nvPicPr>
          <p:cNvPr id="8" name="Picture 12" descr="example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443738"/>
            <a:ext cx="3733800" cy="3886200"/>
          </a:xfrm>
          <a:prstGeom prst="rect">
            <a:avLst/>
          </a:prstGeom>
          <a:noFill/>
        </p:spPr>
      </p:pic>
      <p:sp>
        <p:nvSpPr>
          <p:cNvPr id="9" name="AutoShape 19"/>
          <p:cNvSpPr>
            <a:spLocks/>
          </p:cNvSpPr>
          <p:nvPr/>
        </p:nvSpPr>
        <p:spPr bwMode="auto">
          <a:xfrm>
            <a:off x="7696200" y="2358138"/>
            <a:ext cx="1131888" cy="609600"/>
          </a:xfrm>
          <a:prstGeom prst="accentCallout2">
            <a:avLst>
              <a:gd name="adj1" fmla="val 18750"/>
              <a:gd name="adj2" fmla="val -6731"/>
              <a:gd name="adj3" fmla="val 18750"/>
              <a:gd name="adj4" fmla="val -14023"/>
              <a:gd name="adj5" fmla="val 93750"/>
              <a:gd name="adj6" fmla="val -40255"/>
            </a:avLst>
          </a:prstGeom>
          <a:solidFill>
            <a:srgbClr val="FFFF99"/>
          </a:solidFill>
          <a:ln w="12700">
            <a:solidFill>
              <a:srgbClr val="9933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r>
              <a:rPr lang="en-US" altLang="zh-CN" sz="1400">
                <a:latin typeface="Arial" charset="0"/>
              </a:rPr>
              <a:t>Functional operations</a:t>
            </a:r>
          </a:p>
        </p:txBody>
      </p:sp>
      <p:sp>
        <p:nvSpPr>
          <p:cNvPr id="10" name="AutoShape 20"/>
          <p:cNvSpPr>
            <a:spLocks/>
          </p:cNvSpPr>
          <p:nvPr/>
        </p:nvSpPr>
        <p:spPr bwMode="auto">
          <a:xfrm>
            <a:off x="7924800" y="4186938"/>
            <a:ext cx="990600" cy="609600"/>
          </a:xfrm>
          <a:prstGeom prst="accentCallout2">
            <a:avLst>
              <a:gd name="adj1" fmla="val 18750"/>
              <a:gd name="adj2" fmla="val -7694"/>
              <a:gd name="adj3" fmla="val 18750"/>
              <a:gd name="adj4" fmla="val -33653"/>
              <a:gd name="adj5" fmla="val 26042"/>
              <a:gd name="adj6" fmla="val -126282"/>
            </a:avLst>
          </a:prstGeom>
          <a:solidFill>
            <a:srgbClr val="FFFF99"/>
          </a:solidFill>
          <a:ln w="12700">
            <a:solidFill>
              <a:srgbClr val="9933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r>
              <a:rPr lang="en-US" altLang="zh-CN" sz="1400">
                <a:latin typeface="Arial" charset="0"/>
              </a:rPr>
              <a:t>Structural element</a:t>
            </a:r>
          </a:p>
        </p:txBody>
      </p:sp>
      <p:sp>
        <p:nvSpPr>
          <p:cNvPr id="11" name="AutoShape 23"/>
          <p:cNvSpPr>
            <a:spLocks/>
          </p:cNvSpPr>
          <p:nvPr/>
        </p:nvSpPr>
        <p:spPr bwMode="auto">
          <a:xfrm>
            <a:off x="6324600" y="1215138"/>
            <a:ext cx="2057400" cy="304800"/>
          </a:xfrm>
          <a:prstGeom prst="accentCallout2">
            <a:avLst>
              <a:gd name="adj1" fmla="val 37500"/>
              <a:gd name="adj2" fmla="val -3704"/>
              <a:gd name="adj3" fmla="val 37500"/>
              <a:gd name="adj4" fmla="val -11343"/>
              <a:gd name="adj5" fmla="val 103125"/>
              <a:gd name="adj6" fmla="val -38579"/>
            </a:avLst>
          </a:prstGeom>
          <a:solidFill>
            <a:srgbClr val="FFFF99"/>
          </a:solidFill>
          <a:ln w="12700">
            <a:solidFill>
              <a:srgbClr val="9933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r>
              <a:rPr lang="en-US" altLang="zh-CN" sz="1400">
                <a:latin typeface="Arial" charset="0"/>
              </a:rPr>
              <a:t>Primary output</a:t>
            </a:r>
          </a:p>
        </p:txBody>
      </p:sp>
      <p:sp>
        <p:nvSpPr>
          <p:cNvPr id="12" name="AutoShape 24"/>
          <p:cNvSpPr>
            <a:spLocks/>
          </p:cNvSpPr>
          <p:nvPr/>
        </p:nvSpPr>
        <p:spPr bwMode="auto">
          <a:xfrm>
            <a:off x="5715000" y="5329938"/>
            <a:ext cx="2057400" cy="304800"/>
          </a:xfrm>
          <a:prstGeom prst="accentCallout2">
            <a:avLst>
              <a:gd name="adj1" fmla="val 37500"/>
              <a:gd name="adj2" fmla="val -3704"/>
              <a:gd name="adj3" fmla="val 37500"/>
              <a:gd name="adj4" fmla="val -9106"/>
              <a:gd name="adj5" fmla="val -39583"/>
              <a:gd name="adj6" fmla="val -28394"/>
            </a:avLst>
          </a:prstGeom>
          <a:solidFill>
            <a:srgbClr val="FFFF99"/>
          </a:solidFill>
          <a:ln w="12700">
            <a:solidFill>
              <a:srgbClr val="9933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r>
              <a:rPr lang="en-US" altLang="zh-CN" sz="1400">
                <a:latin typeface="Arial" charset="0"/>
              </a:rPr>
              <a:t>Primary inputs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 &amp; Results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9083" y="1507173"/>
            <a:ext cx="410527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607819" y="2531110"/>
            <a:ext cx="3978215" cy="31369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9725" y="1530985"/>
            <a:ext cx="39814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13"/>
          <p:cNvGrpSpPr/>
          <p:nvPr/>
        </p:nvGrpSpPr>
        <p:grpSpPr>
          <a:xfrm>
            <a:off x="1619250" y="1540510"/>
            <a:ext cx="5321300" cy="3886200"/>
            <a:chOff x="304800" y="1460500"/>
            <a:chExt cx="5321300" cy="3886200"/>
          </a:xfrm>
        </p:grpSpPr>
        <p:cxnSp>
          <p:nvCxnSpPr>
            <p:cNvPr id="11" name="Straight Connector 10"/>
            <p:cNvCxnSpPr/>
            <p:nvPr/>
          </p:nvCxnSpPr>
          <p:spPr>
            <a:xfrm rot="16200000" flipH="1">
              <a:off x="4146550" y="1593850"/>
              <a:ext cx="1612900" cy="134620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4102100" y="2603500"/>
              <a:ext cx="635000" cy="304800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11"/>
            <p:cNvSpPr/>
            <p:nvPr/>
          </p:nvSpPr>
          <p:spPr>
            <a:xfrm>
              <a:off x="304800" y="1460500"/>
              <a:ext cx="977900" cy="3886200"/>
            </a:xfrm>
            <a:custGeom>
              <a:avLst/>
              <a:gdLst>
                <a:gd name="connsiteX0" fmla="*/ 0 w 977900"/>
                <a:gd name="connsiteY0" fmla="*/ 0 h 3886200"/>
                <a:gd name="connsiteX1" fmla="*/ 977900 w 977900"/>
                <a:gd name="connsiteY1" fmla="*/ 1638300 h 3886200"/>
                <a:gd name="connsiteX2" fmla="*/ 965200 w 977900"/>
                <a:gd name="connsiteY2" fmla="*/ 3886200 h 3886200"/>
                <a:gd name="connsiteX3" fmla="*/ 0 w 977900"/>
                <a:gd name="connsiteY3" fmla="*/ 990600 h 3886200"/>
                <a:gd name="connsiteX4" fmla="*/ 0 w 977900"/>
                <a:gd name="connsiteY4" fmla="*/ 0 h 388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7900" h="3886200">
                  <a:moveTo>
                    <a:pt x="0" y="0"/>
                  </a:moveTo>
                  <a:lnTo>
                    <a:pt x="977900" y="1638300"/>
                  </a:lnTo>
                  <a:cubicBezTo>
                    <a:pt x="973667" y="2387600"/>
                    <a:pt x="969433" y="3136900"/>
                    <a:pt x="965200" y="3886200"/>
                  </a:cubicBez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86038" y="3166110"/>
            <a:ext cx="43910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15"/>
          <p:cNvGrpSpPr/>
          <p:nvPr/>
        </p:nvGrpSpPr>
        <p:grpSpPr>
          <a:xfrm>
            <a:off x="2551578" y="2265157"/>
            <a:ext cx="2138083" cy="2904565"/>
            <a:chOff x="3294528" y="2528047"/>
            <a:chExt cx="2138083" cy="2904565"/>
          </a:xfrm>
        </p:grpSpPr>
        <p:sp>
          <p:nvSpPr>
            <p:cNvPr id="13" name="Rectangle 12"/>
            <p:cNvSpPr/>
            <p:nvPr/>
          </p:nvSpPr>
          <p:spPr>
            <a:xfrm>
              <a:off x="3294528" y="2528047"/>
              <a:ext cx="1048871" cy="121024"/>
            </a:xfrm>
            <a:prstGeom prst="rect">
              <a:avLst/>
            </a:prstGeom>
            <a:solidFill>
              <a:srgbClr val="0070C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89612" y="4303058"/>
              <a:ext cx="1142999" cy="1129554"/>
            </a:xfrm>
            <a:prstGeom prst="rect">
              <a:avLst/>
            </a:prstGeom>
            <a:solidFill>
              <a:srgbClr val="0070C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4130974" y="3479198"/>
            <a:ext cx="2829464" cy="1830577"/>
            <a:chOff x="4873924" y="3742088"/>
            <a:chExt cx="2829464" cy="1830577"/>
          </a:xfrm>
        </p:grpSpPr>
        <p:sp>
          <p:nvSpPr>
            <p:cNvPr id="17" name="Rectangle 16"/>
            <p:cNvSpPr/>
            <p:nvPr/>
          </p:nvSpPr>
          <p:spPr>
            <a:xfrm>
              <a:off x="5997388" y="3742088"/>
              <a:ext cx="564777" cy="26894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995358" y="4295956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012610" y="4589254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995357" y="4865299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03984" y="5149971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12611" y="5417391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127448" y="3742088"/>
              <a:ext cx="564777" cy="26894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125418" y="4295956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42670" y="4589254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25417" y="4865299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134044" y="5149971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42671" y="5417391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884580" y="3742088"/>
              <a:ext cx="564777" cy="26894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73924" y="5434644"/>
              <a:ext cx="560717" cy="138021"/>
            </a:xfrm>
            <a:prstGeom prst="rect">
              <a:avLst/>
            </a:prstGeom>
            <a:solidFill>
              <a:schemeClr val="accent4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46"/>
          <p:cNvGrpSpPr/>
          <p:nvPr/>
        </p:nvGrpSpPr>
        <p:grpSpPr>
          <a:xfrm>
            <a:off x="4122347" y="3739769"/>
            <a:ext cx="2829465" cy="1699401"/>
            <a:chOff x="4865297" y="4002659"/>
            <a:chExt cx="2829465" cy="1699401"/>
          </a:xfrm>
        </p:grpSpPr>
        <p:sp>
          <p:nvSpPr>
            <p:cNvPr id="32" name="Rectangle 31"/>
            <p:cNvSpPr/>
            <p:nvPr/>
          </p:nvSpPr>
          <p:spPr>
            <a:xfrm>
              <a:off x="6021238" y="4442605"/>
              <a:ext cx="526212" cy="129395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995357" y="4718650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978104" y="4994695"/>
              <a:ext cx="595224" cy="138022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86731" y="5279367"/>
              <a:ext cx="569344" cy="129395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995358" y="5546787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142672" y="4451231"/>
              <a:ext cx="526212" cy="129395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116791" y="4727276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99538" y="5003321"/>
              <a:ext cx="595224" cy="138022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108165" y="5287993"/>
              <a:ext cx="569344" cy="129395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16792" y="5555413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873924" y="5564039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865297" y="4002659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86731" y="4002659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116791" y="4011286"/>
              <a:ext cx="560717" cy="138021"/>
            </a:xfrm>
            <a:prstGeom prst="rect">
              <a:avLst/>
            </a:prstGeom>
            <a:solidFill>
              <a:schemeClr val="tx2">
                <a:lumMod val="5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70"/>
          <p:cNvGrpSpPr/>
          <p:nvPr/>
        </p:nvGrpSpPr>
        <p:grpSpPr>
          <a:xfrm>
            <a:off x="2888771" y="3877789"/>
            <a:ext cx="3476446" cy="163902"/>
            <a:chOff x="3631721" y="4140679"/>
            <a:chExt cx="3476446" cy="163902"/>
          </a:xfrm>
        </p:grpSpPr>
        <p:sp>
          <p:nvSpPr>
            <p:cNvPr id="48" name="Rectangle 47"/>
            <p:cNvSpPr/>
            <p:nvPr/>
          </p:nvSpPr>
          <p:spPr>
            <a:xfrm>
              <a:off x="3631721" y="4140679"/>
              <a:ext cx="1233577" cy="16390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443269" y="4149306"/>
              <a:ext cx="543464" cy="155274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564703" y="4149306"/>
              <a:ext cx="543464" cy="155274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53"/>
          <p:cNvGrpSpPr/>
          <p:nvPr/>
        </p:nvGrpSpPr>
        <p:grpSpPr>
          <a:xfrm>
            <a:off x="2897398" y="4040331"/>
            <a:ext cx="3476445" cy="286032"/>
            <a:chOff x="3640348" y="4303221"/>
            <a:chExt cx="3476445" cy="286032"/>
          </a:xfrm>
        </p:grpSpPr>
        <p:sp>
          <p:nvSpPr>
            <p:cNvPr id="51" name="Rectangle 50"/>
            <p:cNvSpPr/>
            <p:nvPr/>
          </p:nvSpPr>
          <p:spPr>
            <a:xfrm>
              <a:off x="3640348" y="4313208"/>
              <a:ext cx="655608" cy="2760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451895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573329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54"/>
          <p:cNvGrpSpPr/>
          <p:nvPr/>
        </p:nvGrpSpPr>
        <p:grpSpPr>
          <a:xfrm>
            <a:off x="2897398" y="4316376"/>
            <a:ext cx="3476445" cy="286032"/>
            <a:chOff x="3640348" y="4303221"/>
            <a:chExt cx="3476445" cy="286032"/>
          </a:xfrm>
        </p:grpSpPr>
        <p:sp>
          <p:nvSpPr>
            <p:cNvPr id="56" name="Rectangle 55"/>
            <p:cNvSpPr/>
            <p:nvPr/>
          </p:nvSpPr>
          <p:spPr>
            <a:xfrm>
              <a:off x="3640348" y="4313208"/>
              <a:ext cx="655608" cy="2760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451895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573329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58"/>
          <p:cNvGrpSpPr/>
          <p:nvPr/>
        </p:nvGrpSpPr>
        <p:grpSpPr>
          <a:xfrm>
            <a:off x="2906024" y="4592421"/>
            <a:ext cx="3476445" cy="286032"/>
            <a:chOff x="3640348" y="4303221"/>
            <a:chExt cx="3476445" cy="286032"/>
          </a:xfrm>
        </p:grpSpPr>
        <p:sp>
          <p:nvSpPr>
            <p:cNvPr id="60" name="Rectangle 59"/>
            <p:cNvSpPr/>
            <p:nvPr/>
          </p:nvSpPr>
          <p:spPr>
            <a:xfrm>
              <a:off x="3640348" y="4313208"/>
              <a:ext cx="655608" cy="2760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451895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573329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62"/>
          <p:cNvGrpSpPr/>
          <p:nvPr/>
        </p:nvGrpSpPr>
        <p:grpSpPr>
          <a:xfrm>
            <a:off x="2906024" y="4868466"/>
            <a:ext cx="3476445" cy="286032"/>
            <a:chOff x="3640348" y="4303221"/>
            <a:chExt cx="3476445" cy="286032"/>
          </a:xfrm>
        </p:grpSpPr>
        <p:sp>
          <p:nvSpPr>
            <p:cNvPr id="64" name="Rectangle 63"/>
            <p:cNvSpPr/>
            <p:nvPr/>
          </p:nvSpPr>
          <p:spPr>
            <a:xfrm>
              <a:off x="3640348" y="4313208"/>
              <a:ext cx="655608" cy="2760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451895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573329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66"/>
          <p:cNvGrpSpPr/>
          <p:nvPr/>
        </p:nvGrpSpPr>
        <p:grpSpPr>
          <a:xfrm>
            <a:off x="2888771" y="5144511"/>
            <a:ext cx="3476445" cy="286032"/>
            <a:chOff x="3640348" y="4303221"/>
            <a:chExt cx="3476445" cy="286032"/>
          </a:xfrm>
        </p:grpSpPr>
        <p:sp>
          <p:nvSpPr>
            <p:cNvPr id="68" name="Rectangle 67"/>
            <p:cNvSpPr/>
            <p:nvPr/>
          </p:nvSpPr>
          <p:spPr>
            <a:xfrm>
              <a:off x="3640348" y="4313208"/>
              <a:ext cx="655608" cy="2760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451895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573329" y="4303221"/>
              <a:ext cx="543464" cy="28603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77"/>
          <p:cNvGrpSpPr/>
          <p:nvPr/>
        </p:nvGrpSpPr>
        <p:grpSpPr>
          <a:xfrm>
            <a:off x="4683064" y="4033065"/>
            <a:ext cx="2268748" cy="862641"/>
            <a:chOff x="5426014" y="4295955"/>
            <a:chExt cx="2268748" cy="862641"/>
          </a:xfrm>
          <a:solidFill>
            <a:srgbClr val="66FF33">
              <a:alpha val="40000"/>
            </a:srgbClr>
          </a:solidFill>
        </p:grpSpPr>
        <p:sp>
          <p:nvSpPr>
            <p:cNvPr id="73" name="Freeform 72"/>
            <p:cNvSpPr/>
            <p:nvPr/>
          </p:nvSpPr>
          <p:spPr>
            <a:xfrm>
              <a:off x="6556075" y="4295955"/>
              <a:ext cx="1138687" cy="284671"/>
            </a:xfrm>
            <a:custGeom>
              <a:avLst/>
              <a:gdLst>
                <a:gd name="connsiteX0" fmla="*/ 560717 w 1138687"/>
                <a:gd name="connsiteY0" fmla="*/ 284671 h 284671"/>
                <a:gd name="connsiteX1" fmla="*/ 0 w 1138687"/>
                <a:gd name="connsiteY1" fmla="*/ 284671 h 284671"/>
                <a:gd name="connsiteX2" fmla="*/ 0 w 1138687"/>
                <a:gd name="connsiteY2" fmla="*/ 0 h 284671"/>
                <a:gd name="connsiteX3" fmla="*/ 1138687 w 1138687"/>
                <a:gd name="connsiteY3" fmla="*/ 0 h 284671"/>
                <a:gd name="connsiteX4" fmla="*/ 1121434 w 1138687"/>
                <a:gd name="connsiteY4" fmla="*/ 155275 h 284671"/>
                <a:gd name="connsiteX5" fmla="*/ 569344 w 1138687"/>
                <a:gd name="connsiteY5" fmla="*/ 155275 h 284671"/>
                <a:gd name="connsiteX6" fmla="*/ 560717 w 1138687"/>
                <a:gd name="connsiteY6" fmla="*/ 284671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8687" h="284671">
                  <a:moveTo>
                    <a:pt x="560717" y="284671"/>
                  </a:moveTo>
                  <a:lnTo>
                    <a:pt x="0" y="284671"/>
                  </a:lnTo>
                  <a:lnTo>
                    <a:pt x="0" y="0"/>
                  </a:lnTo>
                  <a:lnTo>
                    <a:pt x="1138687" y="0"/>
                  </a:lnTo>
                  <a:lnTo>
                    <a:pt x="1121434" y="155275"/>
                  </a:lnTo>
                  <a:lnTo>
                    <a:pt x="569344" y="155275"/>
                  </a:lnTo>
                  <a:lnTo>
                    <a:pt x="560717" y="28467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5426014" y="4873925"/>
              <a:ext cx="1138687" cy="284671"/>
            </a:xfrm>
            <a:custGeom>
              <a:avLst/>
              <a:gdLst>
                <a:gd name="connsiteX0" fmla="*/ 560717 w 1138687"/>
                <a:gd name="connsiteY0" fmla="*/ 284671 h 284671"/>
                <a:gd name="connsiteX1" fmla="*/ 0 w 1138687"/>
                <a:gd name="connsiteY1" fmla="*/ 284671 h 284671"/>
                <a:gd name="connsiteX2" fmla="*/ 0 w 1138687"/>
                <a:gd name="connsiteY2" fmla="*/ 0 h 284671"/>
                <a:gd name="connsiteX3" fmla="*/ 1138687 w 1138687"/>
                <a:gd name="connsiteY3" fmla="*/ 0 h 284671"/>
                <a:gd name="connsiteX4" fmla="*/ 1121434 w 1138687"/>
                <a:gd name="connsiteY4" fmla="*/ 155275 h 284671"/>
                <a:gd name="connsiteX5" fmla="*/ 569344 w 1138687"/>
                <a:gd name="connsiteY5" fmla="*/ 155275 h 284671"/>
                <a:gd name="connsiteX6" fmla="*/ 560717 w 1138687"/>
                <a:gd name="connsiteY6" fmla="*/ 284671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8687" h="284671">
                  <a:moveTo>
                    <a:pt x="560717" y="284671"/>
                  </a:moveTo>
                  <a:lnTo>
                    <a:pt x="0" y="284671"/>
                  </a:lnTo>
                  <a:lnTo>
                    <a:pt x="0" y="0"/>
                  </a:lnTo>
                  <a:lnTo>
                    <a:pt x="1138687" y="0"/>
                  </a:lnTo>
                  <a:lnTo>
                    <a:pt x="1121434" y="155275"/>
                  </a:lnTo>
                  <a:lnTo>
                    <a:pt x="569344" y="155275"/>
                  </a:lnTo>
                  <a:lnTo>
                    <a:pt x="560717" y="28467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76"/>
          <p:cNvGrpSpPr/>
          <p:nvPr/>
        </p:nvGrpSpPr>
        <p:grpSpPr>
          <a:xfrm>
            <a:off x="4726197" y="4611035"/>
            <a:ext cx="2216988" cy="836762"/>
            <a:chOff x="5469147" y="4873925"/>
            <a:chExt cx="2216988" cy="836762"/>
          </a:xfrm>
          <a:solidFill>
            <a:srgbClr val="FFFF00">
              <a:alpha val="40000"/>
            </a:srgbClr>
          </a:solidFill>
        </p:grpSpPr>
        <p:sp>
          <p:nvSpPr>
            <p:cNvPr id="75" name="Freeform 74"/>
            <p:cNvSpPr/>
            <p:nvPr/>
          </p:nvSpPr>
          <p:spPr>
            <a:xfrm>
              <a:off x="6547448" y="4873925"/>
              <a:ext cx="1138687" cy="284671"/>
            </a:xfrm>
            <a:custGeom>
              <a:avLst/>
              <a:gdLst>
                <a:gd name="connsiteX0" fmla="*/ 560717 w 1138687"/>
                <a:gd name="connsiteY0" fmla="*/ 284671 h 284671"/>
                <a:gd name="connsiteX1" fmla="*/ 0 w 1138687"/>
                <a:gd name="connsiteY1" fmla="*/ 284671 h 284671"/>
                <a:gd name="connsiteX2" fmla="*/ 0 w 1138687"/>
                <a:gd name="connsiteY2" fmla="*/ 0 h 284671"/>
                <a:gd name="connsiteX3" fmla="*/ 1138687 w 1138687"/>
                <a:gd name="connsiteY3" fmla="*/ 0 h 284671"/>
                <a:gd name="connsiteX4" fmla="*/ 1121434 w 1138687"/>
                <a:gd name="connsiteY4" fmla="*/ 155275 h 284671"/>
                <a:gd name="connsiteX5" fmla="*/ 569344 w 1138687"/>
                <a:gd name="connsiteY5" fmla="*/ 155275 h 284671"/>
                <a:gd name="connsiteX6" fmla="*/ 560717 w 1138687"/>
                <a:gd name="connsiteY6" fmla="*/ 284671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8687" h="284671">
                  <a:moveTo>
                    <a:pt x="560717" y="284671"/>
                  </a:moveTo>
                  <a:lnTo>
                    <a:pt x="0" y="284671"/>
                  </a:lnTo>
                  <a:lnTo>
                    <a:pt x="0" y="0"/>
                  </a:lnTo>
                  <a:lnTo>
                    <a:pt x="1138687" y="0"/>
                  </a:lnTo>
                  <a:lnTo>
                    <a:pt x="1121434" y="155275"/>
                  </a:lnTo>
                  <a:lnTo>
                    <a:pt x="569344" y="155275"/>
                  </a:lnTo>
                  <a:lnTo>
                    <a:pt x="560717" y="28467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5469147" y="5426016"/>
              <a:ext cx="1138687" cy="284671"/>
            </a:xfrm>
            <a:custGeom>
              <a:avLst/>
              <a:gdLst>
                <a:gd name="connsiteX0" fmla="*/ 560717 w 1138687"/>
                <a:gd name="connsiteY0" fmla="*/ 284671 h 284671"/>
                <a:gd name="connsiteX1" fmla="*/ 0 w 1138687"/>
                <a:gd name="connsiteY1" fmla="*/ 284671 h 284671"/>
                <a:gd name="connsiteX2" fmla="*/ 0 w 1138687"/>
                <a:gd name="connsiteY2" fmla="*/ 0 h 284671"/>
                <a:gd name="connsiteX3" fmla="*/ 1138687 w 1138687"/>
                <a:gd name="connsiteY3" fmla="*/ 0 h 284671"/>
                <a:gd name="connsiteX4" fmla="*/ 1121434 w 1138687"/>
                <a:gd name="connsiteY4" fmla="*/ 155275 h 284671"/>
                <a:gd name="connsiteX5" fmla="*/ 569344 w 1138687"/>
                <a:gd name="connsiteY5" fmla="*/ 155275 h 284671"/>
                <a:gd name="connsiteX6" fmla="*/ 560717 w 1138687"/>
                <a:gd name="connsiteY6" fmla="*/ 284671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8687" h="284671">
                  <a:moveTo>
                    <a:pt x="560717" y="284671"/>
                  </a:moveTo>
                  <a:lnTo>
                    <a:pt x="0" y="284671"/>
                  </a:lnTo>
                  <a:lnTo>
                    <a:pt x="0" y="0"/>
                  </a:lnTo>
                  <a:lnTo>
                    <a:pt x="1138687" y="0"/>
                  </a:lnTo>
                  <a:lnTo>
                    <a:pt x="1121434" y="155275"/>
                  </a:lnTo>
                  <a:lnTo>
                    <a:pt x="569344" y="155275"/>
                  </a:lnTo>
                  <a:lnTo>
                    <a:pt x="560717" y="28467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.09844 0.237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" y="11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Improvement over CSE and Original Design</a:t>
            </a:r>
            <a:endParaRPr lang="en-US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 bwMode="auto">
          <a:xfrm>
            <a:off x="685800" y="1291372"/>
            <a:ext cx="2924069" cy="4676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4275455" y="2839403"/>
            <a:ext cx="4308475" cy="186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474"/>
            <a:ext cx="8229600" cy="1143000"/>
          </a:xfrm>
        </p:spPr>
        <p:txBody>
          <a:bodyPr/>
          <a:lstStyle/>
          <a:p>
            <a:r>
              <a:rPr lang="en-US" dirty="0" smtClean="0"/>
              <a:t>Part II: Data Structure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0962" y="984054"/>
            <a:ext cx="6833287" cy="4361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377447" y="3949412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Manager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0451" y="3949412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Manager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0434" y="3939685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Manager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97000" y="5994400"/>
            <a:ext cx="850900" cy="66904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426182" y="6030051"/>
            <a:ext cx="779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Shell + </a:t>
            </a:r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 smtClean="0">
                <a:solidFill>
                  <a:schemeClr val="bg1"/>
                </a:solidFill>
              </a:rPr>
              <a:t>History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86779" y="6235434"/>
            <a:ext cx="2645923" cy="42801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075887" y="6274327"/>
            <a:ext cx="1799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Command Facilities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74331" y="5369668"/>
            <a:ext cx="982493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Convert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815197" y="5369668"/>
            <a:ext cx="982493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Retime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5846316" y="5369669"/>
            <a:ext cx="982493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Reorder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6877458" y="5369669"/>
            <a:ext cx="982493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Cost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2315183" y="5369668"/>
            <a:ext cx="1400771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Decompose</a:t>
            </a:r>
            <a:endParaRPr lang="en-US" dirty="0"/>
          </a:p>
        </p:txBody>
      </p:sp>
      <p:cxnSp>
        <p:nvCxnSpPr>
          <p:cNvPr id="24" name="Elbow Connector 23"/>
          <p:cNvCxnSpPr>
            <a:stCxn id="22" idx="2"/>
            <a:endCxn id="16" idx="0"/>
          </p:cNvCxnSpPr>
          <p:nvPr/>
        </p:nvCxnSpPr>
        <p:spPr>
          <a:xfrm rot="16200000" flipH="1">
            <a:off x="3808372" y="5034065"/>
            <a:ext cx="408566" cy="199417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8" idx="2"/>
            <a:endCxn id="16" idx="0"/>
          </p:cNvCxnSpPr>
          <p:nvPr/>
        </p:nvCxnSpPr>
        <p:spPr>
          <a:xfrm rot="16200000" flipH="1">
            <a:off x="4433376" y="5659069"/>
            <a:ext cx="408566" cy="74416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9" idx="2"/>
            <a:endCxn id="16" idx="0"/>
          </p:cNvCxnSpPr>
          <p:nvPr/>
        </p:nvCxnSpPr>
        <p:spPr>
          <a:xfrm rot="5400000">
            <a:off x="4953810" y="5882800"/>
            <a:ext cx="408566" cy="29670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20" idx="2"/>
            <a:endCxn id="16" idx="0"/>
          </p:cNvCxnSpPr>
          <p:nvPr/>
        </p:nvCxnSpPr>
        <p:spPr>
          <a:xfrm rot="5400000">
            <a:off x="5469370" y="5367240"/>
            <a:ext cx="408565" cy="13278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21" idx="2"/>
            <a:endCxn id="16" idx="0"/>
          </p:cNvCxnSpPr>
          <p:nvPr/>
        </p:nvCxnSpPr>
        <p:spPr>
          <a:xfrm rot="5400000">
            <a:off x="5984941" y="4851669"/>
            <a:ext cx="408565" cy="235896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244600" y="3225800"/>
            <a:ext cx="6896100" cy="3467100"/>
          </a:xfrm>
          <a:prstGeom prst="roundRect">
            <a:avLst>
              <a:gd name="adj" fmla="val 6743"/>
            </a:avLst>
          </a:prstGeom>
          <a:noFill/>
          <a:ln w="63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-100435" y="4195634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Quartus</a:t>
            </a:r>
            <a:endParaRPr lang="en-US" sz="2400" dirty="0"/>
          </a:p>
        </p:txBody>
      </p:sp>
      <p:sp>
        <p:nvSpPr>
          <p:cNvPr id="27" name="Rounded Rectangle 26"/>
          <p:cNvSpPr/>
          <p:nvPr/>
        </p:nvSpPr>
        <p:spPr>
          <a:xfrm>
            <a:off x="266700" y="3810000"/>
            <a:ext cx="469900" cy="12065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749300" y="4419600"/>
            <a:ext cx="469900" cy="1588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4700" y="4064000"/>
            <a:ext cx="40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tcl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68300" y="1193800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VHDL</a:t>
            </a:r>
          </a:p>
          <a:p>
            <a:r>
              <a:rPr lang="en-US" dirty="0" smtClean="0"/>
              <a:t>c/c++</a:t>
            </a:r>
            <a:endParaRPr lang="en-US" dirty="0"/>
          </a:p>
        </p:txBody>
      </p:sp>
      <p:sp>
        <p:nvSpPr>
          <p:cNvPr id="39" name="Right Brace 38"/>
          <p:cNvSpPr/>
          <p:nvPr/>
        </p:nvSpPr>
        <p:spPr>
          <a:xfrm>
            <a:off x="977900" y="1193800"/>
            <a:ext cx="203200" cy="698500"/>
          </a:xfrm>
          <a:prstGeom prst="righ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3025310" y="1939146"/>
            <a:ext cx="2052536" cy="6712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163445" y="2804908"/>
            <a:ext cx="2217906" cy="9338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8278" y="912222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Ted Manager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970317" y="2800440"/>
            <a:ext cx="55335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kids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57999" y="3242652"/>
            <a:ext cx="554476" cy="3599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kid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4153733" y="2804912"/>
            <a:ext cx="729574" cy="35992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node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4980569" y="3232924"/>
            <a:ext cx="554476" cy="3599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kid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5671234" y="3223196"/>
            <a:ext cx="554476" cy="3599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kid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5622606" y="5275732"/>
            <a:ext cx="729574" cy="35992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node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542824" y="4020866"/>
            <a:ext cx="2217906" cy="9338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349696" y="4016398"/>
            <a:ext cx="55335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kids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59948" y="4448882"/>
            <a:ext cx="554476" cy="3599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kid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6050613" y="4439154"/>
            <a:ext cx="554476" cy="3599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kid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4542833" y="4011140"/>
            <a:ext cx="729574" cy="35992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node</a:t>
            </a:r>
            <a:endParaRPr lang="en-US" dirty="0"/>
          </a:p>
        </p:txBody>
      </p:sp>
      <p:cxnSp>
        <p:nvCxnSpPr>
          <p:cNvPr id="27" name="Straight Arrow Connector 26"/>
          <p:cNvCxnSpPr>
            <a:stCxn id="14" idx="2"/>
            <a:endCxn id="18" idx="0"/>
          </p:cNvCxnSpPr>
          <p:nvPr/>
        </p:nvCxnSpPr>
        <p:spPr>
          <a:xfrm rot="16200000" flipH="1">
            <a:off x="4567146" y="3670665"/>
            <a:ext cx="408565" cy="27238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2"/>
            <a:endCxn id="18" idx="0"/>
          </p:cNvCxnSpPr>
          <p:nvPr/>
        </p:nvCxnSpPr>
        <p:spPr>
          <a:xfrm rot="5400000">
            <a:off x="4873568" y="3626900"/>
            <a:ext cx="418293" cy="35018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2"/>
            <a:endCxn id="20" idx="0"/>
          </p:cNvCxnSpPr>
          <p:nvPr/>
        </p:nvCxnSpPr>
        <p:spPr>
          <a:xfrm rot="5400000">
            <a:off x="5919295" y="4867175"/>
            <a:ext cx="476655" cy="34045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7" idx="2"/>
            <a:endCxn id="20" idx="0"/>
          </p:cNvCxnSpPr>
          <p:nvPr/>
        </p:nvCxnSpPr>
        <p:spPr>
          <a:xfrm rot="16200000" flipH="1">
            <a:off x="5121626" y="4409964"/>
            <a:ext cx="1692613" cy="3892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05096" y="2201798"/>
            <a:ext cx="729574" cy="35992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root2</a:t>
            </a:r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3268517" y="2201798"/>
            <a:ext cx="729574" cy="35992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root1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37" idx="2"/>
            <a:endCxn id="15" idx="0"/>
          </p:cNvCxnSpPr>
          <p:nvPr/>
        </p:nvCxnSpPr>
        <p:spPr>
          <a:xfrm rot="16200000" flipH="1">
            <a:off x="4372606" y="2658997"/>
            <a:ext cx="243191" cy="4863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75502" y="1919691"/>
            <a:ext cx="1421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Primary Outputs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46" name="Straight Arrow Connector 45"/>
          <p:cNvCxnSpPr>
            <a:stCxn id="24" idx="2"/>
          </p:cNvCxnSpPr>
          <p:nvPr/>
        </p:nvCxnSpPr>
        <p:spPr>
          <a:xfrm rot="5400000">
            <a:off x="5197007" y="4952290"/>
            <a:ext cx="583664" cy="29669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8" idx="2"/>
          </p:cNvCxnSpPr>
          <p:nvPr/>
        </p:nvCxnSpPr>
        <p:spPr>
          <a:xfrm rot="5400000">
            <a:off x="3261214" y="2880293"/>
            <a:ext cx="690662" cy="5351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749049" y="2804909"/>
            <a:ext cx="632302" cy="35019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var1</a:t>
            </a:r>
            <a:endParaRPr lang="en-US" dirty="0"/>
          </a:p>
        </p:txBody>
      </p:sp>
      <p:sp>
        <p:nvSpPr>
          <p:cNvPr id="55" name="Rounded Rectangle 54"/>
          <p:cNvSpPr/>
          <p:nvPr/>
        </p:nvSpPr>
        <p:spPr>
          <a:xfrm>
            <a:off x="6118700" y="4020866"/>
            <a:ext cx="632302" cy="35019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var2</a:t>
            </a:r>
            <a:endParaRPr lang="en-US" dirty="0"/>
          </a:p>
        </p:txBody>
      </p:sp>
      <p:sp>
        <p:nvSpPr>
          <p:cNvPr id="56" name="Rounded Rectangle 55"/>
          <p:cNvSpPr/>
          <p:nvPr/>
        </p:nvSpPr>
        <p:spPr>
          <a:xfrm>
            <a:off x="2918304" y="2668721"/>
            <a:ext cx="4124528" cy="325876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5214032" y="2299070"/>
            <a:ext cx="14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Ted Container</a:t>
            </a:r>
            <a:endParaRPr lang="en-US" dirty="0"/>
          </a:p>
        </p:txBody>
      </p:sp>
      <p:cxnSp>
        <p:nvCxnSpPr>
          <p:cNvPr id="59" name="Straight Arrow Connector 58"/>
          <p:cNvCxnSpPr>
            <a:stCxn id="54" idx="3"/>
          </p:cNvCxnSpPr>
          <p:nvPr/>
        </p:nvCxnSpPr>
        <p:spPr>
          <a:xfrm flipV="1">
            <a:off x="6381351" y="2980006"/>
            <a:ext cx="101167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5" idx="3"/>
          </p:cNvCxnSpPr>
          <p:nvPr/>
        </p:nvCxnSpPr>
        <p:spPr>
          <a:xfrm flipV="1">
            <a:off x="6751002" y="4195963"/>
            <a:ext cx="671209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441669" y="2785453"/>
            <a:ext cx="544749" cy="16439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 rot="16200000">
            <a:off x="6935828" y="3427478"/>
            <a:ext cx="1559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Primary Inputs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005867" y="2941080"/>
            <a:ext cx="112101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Linearization</a:t>
            </a:r>
          </a:p>
          <a:p>
            <a:r>
              <a:rPr lang="en-US" sz="1400" dirty="0" smtClean="0"/>
              <a:t>Retiming</a:t>
            </a:r>
          </a:p>
          <a:p>
            <a:r>
              <a:rPr lang="en-US" sz="1400" dirty="0" smtClean="0"/>
              <a:t>Binary</a:t>
            </a:r>
          </a:p>
          <a:p>
            <a:r>
              <a:rPr lang="en-US" sz="1400" dirty="0" smtClean="0"/>
              <a:t>Constant</a:t>
            </a:r>
          </a:p>
          <a:p>
            <a:r>
              <a:rPr lang="en-US" sz="1400" dirty="0" smtClean="0"/>
              <a:t>Variable</a:t>
            </a:r>
          </a:p>
          <a:p>
            <a:r>
              <a:rPr lang="en-US" sz="1400" dirty="0" smtClean="0"/>
              <a:t>Grouping</a:t>
            </a:r>
            <a:endParaRPr lang="en-US" sz="1400" dirty="0"/>
          </a:p>
        </p:txBody>
      </p:sp>
      <p:sp>
        <p:nvSpPr>
          <p:cNvPr id="71" name="Rounded Rectangle 70"/>
          <p:cNvSpPr/>
          <p:nvPr/>
        </p:nvSpPr>
        <p:spPr>
          <a:xfrm>
            <a:off x="2276279" y="1326304"/>
            <a:ext cx="4931923" cy="4756825"/>
          </a:xfrm>
          <a:prstGeom prst="roundRect">
            <a:avLst>
              <a:gd name="adj" fmla="val 12168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2538926" y="1462490"/>
            <a:ext cx="247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BFS </a:t>
            </a:r>
            <a:r>
              <a:rPr lang="en-US" dirty="0" err="1" smtClean="0"/>
              <a:t>iterator</a:t>
            </a:r>
            <a:r>
              <a:rPr lang="en-US" dirty="0" smtClean="0"/>
              <a:t>, DFS </a:t>
            </a:r>
            <a:r>
              <a:rPr lang="en-US" dirty="0" err="1" smtClean="0"/>
              <a:t>iterator</a:t>
            </a:r>
            <a:endParaRPr lang="en-US" dirty="0"/>
          </a:p>
        </p:txBody>
      </p:sp>
      <p:sp>
        <p:nvSpPr>
          <p:cNvPr id="75" name="Rounded Rectangle 74"/>
          <p:cNvSpPr/>
          <p:nvPr/>
        </p:nvSpPr>
        <p:spPr>
          <a:xfrm>
            <a:off x="184826" y="1579219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Parents</a:t>
            </a:r>
            <a:endParaRPr lang="en-US" dirty="0"/>
          </a:p>
        </p:txBody>
      </p:sp>
      <p:cxnSp>
        <p:nvCxnSpPr>
          <p:cNvPr id="77" name="Elbow Connector 76"/>
          <p:cNvCxnSpPr>
            <a:stCxn id="75" idx="3"/>
            <a:endCxn id="72" idx="1"/>
          </p:cNvCxnSpPr>
          <p:nvPr/>
        </p:nvCxnSpPr>
        <p:spPr>
          <a:xfrm flipV="1">
            <a:off x="1196503" y="1647156"/>
            <a:ext cx="1342423" cy="141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67319" y="1199841"/>
            <a:ext cx="1252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Functor: </a:t>
            </a:r>
          </a:p>
          <a:p>
            <a:r>
              <a:rPr lang="en-US" sz="1400" dirty="0" smtClean="0"/>
              <a:t>collect Parents</a:t>
            </a:r>
            <a:endParaRPr lang="en-US" sz="1400" dirty="0"/>
          </a:p>
        </p:txBody>
      </p:sp>
      <p:sp>
        <p:nvSpPr>
          <p:cNvPr id="81" name="Rounded Rectangle 80"/>
          <p:cNvSpPr/>
          <p:nvPr/>
        </p:nvSpPr>
        <p:spPr>
          <a:xfrm>
            <a:off x="778213" y="2882726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Reorder</a:t>
            </a:r>
            <a:endParaRPr lang="en-US" dirty="0"/>
          </a:p>
        </p:txBody>
      </p:sp>
      <p:sp>
        <p:nvSpPr>
          <p:cNvPr id="82" name="Rounded Rectangle 81"/>
          <p:cNvSpPr/>
          <p:nvPr/>
        </p:nvSpPr>
        <p:spPr>
          <a:xfrm>
            <a:off x="768485" y="3583119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Cost</a:t>
            </a:r>
            <a:endParaRPr lang="en-US" dirty="0"/>
          </a:p>
        </p:txBody>
      </p:sp>
      <p:cxnSp>
        <p:nvCxnSpPr>
          <p:cNvPr id="84" name="Straight Arrow Connector 83"/>
          <p:cNvCxnSpPr>
            <a:stCxn id="81" idx="2"/>
            <a:endCxn id="82" idx="0"/>
          </p:cNvCxnSpPr>
          <p:nvPr/>
        </p:nvCxnSpPr>
        <p:spPr>
          <a:xfrm rot="5400000">
            <a:off x="1138137" y="3437203"/>
            <a:ext cx="282103" cy="972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768486" y="4254328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Strategy</a:t>
            </a:r>
            <a:endParaRPr lang="en-US" dirty="0"/>
          </a:p>
        </p:txBody>
      </p:sp>
      <p:cxnSp>
        <p:nvCxnSpPr>
          <p:cNvPr id="89" name="Elbow Connector 88"/>
          <p:cNvCxnSpPr>
            <a:stCxn id="82" idx="2"/>
            <a:endCxn id="87" idx="0"/>
          </p:cNvCxnSpPr>
          <p:nvPr/>
        </p:nvCxnSpPr>
        <p:spPr>
          <a:xfrm rot="16200000" flipH="1">
            <a:off x="1147865" y="4127867"/>
            <a:ext cx="252919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26455" y="3310742"/>
            <a:ext cx="5485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/>
              <a:t>Mux</a:t>
            </a:r>
            <a:endParaRPr lang="en-US" sz="1100" dirty="0" smtClean="0"/>
          </a:p>
          <a:p>
            <a:r>
              <a:rPr lang="en-US" sz="1100" dirty="0" smtClean="0"/>
              <a:t>Area</a:t>
            </a:r>
          </a:p>
          <a:p>
            <a:r>
              <a:rPr lang="en-US" sz="1100" dirty="0" smtClean="0"/>
              <a:t>Nodes</a:t>
            </a:r>
          </a:p>
          <a:p>
            <a:r>
              <a:rPr lang="en-US" sz="1100" dirty="0" smtClean="0"/>
              <a:t>Edges</a:t>
            </a:r>
          </a:p>
          <a:p>
            <a:r>
              <a:rPr lang="en-US" sz="1100" dirty="0" smtClean="0"/>
              <a:t>delay</a:t>
            </a:r>
            <a:endParaRPr lang="en-US" sz="1100" dirty="0"/>
          </a:p>
        </p:txBody>
      </p:sp>
      <p:sp>
        <p:nvSpPr>
          <p:cNvPr id="98" name="TextBox 97"/>
          <p:cNvSpPr txBox="1"/>
          <p:nvPr/>
        </p:nvSpPr>
        <p:spPr>
          <a:xfrm>
            <a:off x="894944" y="4789351"/>
            <a:ext cx="75533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Annealing</a:t>
            </a:r>
          </a:p>
          <a:p>
            <a:r>
              <a:rPr lang="en-US" sz="1100" dirty="0" smtClean="0"/>
              <a:t>Sift</a:t>
            </a:r>
          </a:p>
          <a:p>
            <a:r>
              <a:rPr lang="en-US" sz="1100" dirty="0" err="1" smtClean="0"/>
              <a:t>Exhausive</a:t>
            </a:r>
            <a:endParaRPr lang="en-US" sz="1100" dirty="0"/>
          </a:p>
        </p:txBody>
      </p:sp>
      <p:sp>
        <p:nvSpPr>
          <p:cNvPr id="99" name="Right Brace 98"/>
          <p:cNvSpPr/>
          <p:nvPr/>
        </p:nvSpPr>
        <p:spPr>
          <a:xfrm>
            <a:off x="476656" y="3369109"/>
            <a:ext cx="262647" cy="836579"/>
          </a:xfrm>
          <a:prstGeom prst="rightBrace">
            <a:avLst>
              <a:gd name="adj1" fmla="val 3055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ight Brace 99"/>
          <p:cNvSpPr/>
          <p:nvPr/>
        </p:nvSpPr>
        <p:spPr>
          <a:xfrm rot="16200000">
            <a:off x="1128409" y="4400241"/>
            <a:ext cx="262647" cy="836579"/>
          </a:xfrm>
          <a:prstGeom prst="rightBrace">
            <a:avLst>
              <a:gd name="adj1" fmla="val 3055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Elbow Connector 103"/>
          <p:cNvCxnSpPr>
            <a:stCxn id="81" idx="3"/>
            <a:endCxn id="56" idx="1"/>
          </p:cNvCxnSpPr>
          <p:nvPr/>
        </p:nvCxnSpPr>
        <p:spPr>
          <a:xfrm>
            <a:off x="1789890" y="3091871"/>
            <a:ext cx="1128414" cy="1206233"/>
          </a:xfrm>
          <a:prstGeom prst="bentConnector3">
            <a:avLst>
              <a:gd name="adj1" fmla="val 64655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184826" y="2046147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Convert</a:t>
            </a:r>
            <a:endParaRPr lang="en-US" dirty="0"/>
          </a:p>
        </p:txBody>
      </p:sp>
      <p:sp>
        <p:nvSpPr>
          <p:cNvPr id="108" name="Rounded Rectangle 107"/>
          <p:cNvSpPr/>
          <p:nvPr/>
        </p:nvSpPr>
        <p:spPr>
          <a:xfrm>
            <a:off x="175098" y="1112292"/>
            <a:ext cx="1011677" cy="4182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7364" y="2678074"/>
            <a:ext cx="8249374" cy="2215991"/>
          </a:xfrm>
          <a:prstGeom prst="rect">
            <a:avLst/>
          </a:prstGeom>
          <a:noFill/>
          <a:effectLst/>
          <a:scene3d>
            <a:camera prst="perspectiveRelaxedModerately">
              <a:rot lat="17990636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3800" dirty="0" smtClean="0">
                <a:latin typeface="Geneva"/>
                <a:ea typeface="Arial Unicode MS" pitchFamily="34" charset="-128"/>
                <a:cs typeface="Courier New" pitchFamily="49" charset="0"/>
              </a:rPr>
              <a:t>Thanks …</a:t>
            </a:r>
            <a:endParaRPr lang="en-US" sz="13800" dirty="0">
              <a:latin typeface="Geneva"/>
              <a:ea typeface="Arial Unicode MS" pitchFamily="34" charset="-128"/>
              <a:cs typeface="Courier New" pitchFamily="49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9579" y="-774"/>
            <a:ext cx="34671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 bwMode="auto">
          <a:xfrm>
            <a:off x="0" y="0"/>
            <a:ext cx="5733535" cy="129745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ne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A Framework for High Level Synthesis using TED&amp;#x0D;&amp;#x0A; (Taylor Expansion Diagram)&amp;quot;&quot;/&gt;&lt;property id=&quot;20307&quot; value=&quot;256&quot;/&gt;&lt;/object&gt;&lt;object type=&quot;3&quot; unique_id=&quot;10005&quot;&gt;&lt;property id=&quot;20148&quot; value=&quot;5&quot;/&gt;&lt;property id=&quot;20300&quot; value=&quot;Slide 3 - &amp;quot;Current CAD Flow&amp;quot;&quot;/&gt;&lt;property id=&quot;20307&quot; value=&quot;259&quot;/&gt;&lt;/object&gt;&lt;object type=&quot;3&quot; unique_id=&quot;10006&quot;&gt;&lt;property id=&quot;20148&quot; value=&quot;5&quot;/&gt;&lt;property id=&quot;20300&quot; value=&quot;Slide 4 - &amp;quot;But some DFGs produce better Architectures&amp;quot;&quot;/&gt;&lt;property id=&quot;20307&quot; value=&quot;260&quot;/&gt;&lt;/object&gt;&lt;object type=&quot;3&quot; unique_id=&quot;10007&quot;&gt;&lt;property id=&quot;20148&quot; value=&quot;5&quot;/&gt;&lt;property id=&quot;20300&quot; value=&quot;Slide 6 - &amp;quot;TED Graph Notation&amp;quot;&quot;/&gt;&lt;property id=&quot;20307&quot; value=&quot;257&quot;/&gt;&lt;/object&gt;&lt;object type=&quot;3&quot; unique_id=&quot;10128&quot;&gt;&lt;property id=&quot;20148&quot; value=&quot;5&quot;/&gt;&lt;property id=&quot;20300&quot; value=&quot;Slide 5 - &amp;quot;Taylor Expansion Diagrams&amp;quot;&quot;/&gt;&lt;property id=&quot;20307&quot; value=&quot;261&quot;/&gt;&lt;/object&gt;&lt;object type=&quot;3&quot; unique_id=&quot;25432&quot;&gt;&lt;property id=&quot;20148&quot; value=&quot;5&quot;/&gt;&lt;property id=&quot;20300&quot; value=&quot;Slide 12 - &amp;quot;Functional Retiming in TED&amp;quot;&quot;/&gt;&lt;property id=&quot;20307&quot; value=&quot;265&quot;/&gt;&lt;/object&gt;&lt;object type=&quot;3&quot; unique_id=&quot;25475&quot;&gt;&lt;property id=&quot;20148&quot; value=&quot;5&quot;/&gt;&lt;property id=&quot;20300&quot; value=&quot;Slide 13 - &amp;quot;Example of Functional Retiming&amp;quot;&quot;/&gt;&lt;property id=&quot;20307&quot; value=&quot;266&quot;/&gt;&lt;/object&gt;&lt;object type=&quot;3&quot; unique_id=&quot;25689&quot;&gt;&lt;property id=&quot;20148&quot; value=&quot;5&quot;/&gt;&lt;property id=&quot;20300&quot; value=&quot;Slide 15 - &amp;quot;TED With Fixed Point Arithmetic&amp;quot;&quot;/&gt;&lt;property id=&quot;20307&quot; value=&quot;267&quot;/&gt;&lt;/object&gt;&lt;object type=&quot;3&quot; unique_id=&quot;25840&quot;&gt;&lt;property id=&quot;20148&quot; value=&quot;5&quot;/&gt;&lt;property id=&quot;20300&quot; value=&quot;Slide 22&quot;/&gt;&lt;property id=&quot;20307&quot; value=&quot;268&quot;/&gt;&lt;/object&gt;&lt;object type=&quot;3&quot; unique_id=&quot;25880&quot;&gt;&lt;property id=&quot;20148&quot; value=&quot;5&quot;/&gt;&lt;property id=&quot;20300&quot; value=&quot;Slide 16 - &amp;quot;Integration with GAUT&amp;quot;&quot;/&gt;&lt;property id=&quot;20307&quot; value=&quot;269&quot;/&gt;&lt;/object&gt;&lt;object type=&quot;3&quot; unique_id=&quot;25993&quot;&gt;&lt;property id=&quot;20148&quot; value=&quot;5&quot;/&gt;&lt;property id=&quot;20300&quot; value=&quot;Slide 19 - &amp;quot;Part II: Data Structure&amp;quot;&quot;/&gt;&lt;property id=&quot;20307&quot; value=&quot;271&quot;/&gt;&lt;/object&gt;&lt;object type=&quot;3&quot; unique_id=&quot;25994&quot;&gt;&lt;property id=&quot;20148&quot; value=&quot;5&quot;/&gt;&lt;property id=&quot;20300&quot; value=&quot;Slide 20&quot;/&gt;&lt;property id=&quot;20307&quot; value=&quot;270&quot;/&gt;&lt;/object&gt;&lt;object type=&quot;3&quot; unique_id=&quot;26144&quot;&gt;&lt;property id=&quot;20148&quot; value=&quot;5&quot;/&gt;&lt;property id=&quot;20300&quot; value=&quot;Slide 2 - &amp;quot;Outline&amp;quot;&quot;/&gt;&lt;property id=&quot;20307&quot; value=&quot;272&quot;/&gt;&lt;/object&gt;&lt;object type=&quot;3&quot; unique_id=&quot;26238&quot;&gt;&lt;property id=&quot;20148&quot; value=&quot;5&quot;/&gt;&lt;property id=&quot;20300&quot; value=&quot;Slide 7 - &amp;quot;TED Construction&amp;quot;&quot;/&gt;&lt;property id=&quot;20307&quot; value=&quot;278&quot;/&gt;&lt;/object&gt;&lt;object type=&quot;3&quot; unique_id=&quot;26239&quot;&gt;&lt;property id=&quot;20148&quot; value=&quot;5&quot;/&gt;&lt;property id=&quot;20300&quot; value=&quot;Slide 8 - &amp;quot;TED Variable Ordering&amp;quot;&quot;/&gt;&lt;property id=&quot;20307&quot; value=&quot;279&quot;/&gt;&lt;/object&gt;&lt;object type=&quot;3&quot; unique_id=&quot;26240&quot;&gt;&lt;property id=&quot;20148&quot; value=&quot;5&quot;/&gt;&lt;property id=&quot;20300&quot; value=&quot;Slide 9 - &amp;quot;TED optimizes HW not operation count&amp;quot;&quot;/&gt;&lt;property id=&quot;20307&quot; value=&quot;280&quot;/&gt;&lt;/object&gt;&lt;object type=&quot;3&quot; unique_id=&quot;26541&quot;&gt;&lt;property id=&quot;20148&quot; value=&quot;5&quot;/&gt;&lt;property id=&quot;20300&quot; value=&quot;Slide 10 - &amp;quot;Optimizing DFGs for HW (TED Decomposition)&amp;quot;&quot;/&gt;&lt;property id=&quot;20307&quot; value=&quot;285&quot;/&gt;&lt;/object&gt;&lt;object type=&quot;3&quot; unique_id=&quot;26542&quot;&gt;&lt;property id=&quot;20148&quot; value=&quot;5&quot;/&gt;&lt;property id=&quot;20300&quot; value=&quot;Slide 11 - &amp;quot;Data Flow Graph&amp;quot;&quot;/&gt;&lt;property id=&quot;20307&quot; value=&quot;281&quot;/&gt;&lt;/object&gt;&lt;object type=&quot;3&quot; unique_id=&quot;26543&quot;&gt;&lt;property id=&quot;20148&quot; value=&quot;5&quot;/&gt;&lt;property id=&quot;20300&quot; value=&quot;Slide 14 - &amp;quot;Fixed Point Arithmetic&amp;quot;&quot;/&gt;&lt;property id=&quot;20307&quot; value=&quot;282&quot;/&gt;&lt;/object&gt;&lt;object type=&quot;3&quot; unique_id=&quot;26544&quot;&gt;&lt;property id=&quot;20148&quot; value=&quot;5&quot;/&gt;&lt;property id=&quot;20300&quot; value=&quot;Slide 17 - &amp;quot;Experiments &amp;amp; Results&amp;quot;&quot;/&gt;&lt;property id=&quot;20307&quot; value=&quot;283&quot;/&gt;&lt;/object&gt;&lt;object type=&quot;3&quot; unique_id=&quot;26545&quot;&gt;&lt;property id=&quot;20148&quot; value=&quot;5&quot;/&gt;&lt;property id=&quot;20300&quot; value=&quot;Slide 18 - &amp;quot;Improvement over CSE and Original Design&amp;quot;&quot;/&gt;&lt;property id=&quot;20307&quot; value=&quot;284&quot;/&gt;&lt;/object&gt;&lt;object type=&quot;3&quot; unique_id=&quot;26546&quot;&gt;&lt;property id=&quot;20148&quot; value=&quot;5&quot;/&gt;&lt;property id=&quot;20300&quot; value=&quot;Slide 21 - &amp;quot;Programming Projects&amp;quot;&quot;/&gt;&lt;property id=&quot;20307&quot; value=&quot;286&quot;/&gt;&lt;/object&gt;&lt;object type=&quot;3&quot; unique_id=&quot;26667&quot;&gt;&lt;property id=&quot;20148&quot; value=&quot;5&quot;/&gt;&lt;property id=&quot;20300&quot; value=&quot;Slide 23 - &amp;quot;UMass core&amp;quot;&quot;/&gt;&lt;property id=&quot;20307&quot; value=&quot;28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Blank Presentation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nev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neva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1155</TotalTime>
  <Words>583</Words>
  <Application>Microsoft Office PowerPoint</Application>
  <PresentationFormat>On-screen Show (4:3)</PresentationFormat>
  <Paragraphs>254</Paragraphs>
  <Slides>21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Blank Presentation</vt:lpstr>
      <vt:lpstr>Office Theme</vt:lpstr>
      <vt:lpstr>Equation</vt:lpstr>
      <vt:lpstr>A Framework for High Level Synthesis using TED  (Taylor Expansion Diagram)</vt:lpstr>
      <vt:lpstr>Outline</vt:lpstr>
      <vt:lpstr>Current CAD Flow</vt:lpstr>
      <vt:lpstr>But some DFGs produce better Architectures</vt:lpstr>
      <vt:lpstr>Taylor Expansion Diagrams</vt:lpstr>
      <vt:lpstr>TED Graph Notation</vt:lpstr>
      <vt:lpstr>TED Construction</vt:lpstr>
      <vt:lpstr>TED Variable Ordering</vt:lpstr>
      <vt:lpstr>TED optimizes HW not operation count</vt:lpstr>
      <vt:lpstr>Optimizing DFGs for HW (TED Decomposition)</vt:lpstr>
      <vt:lpstr>Data Flow Graph</vt:lpstr>
      <vt:lpstr>Functional Retiming in TED</vt:lpstr>
      <vt:lpstr>Example of Functional Retiming</vt:lpstr>
      <vt:lpstr>Fixed Point Arithmetic</vt:lpstr>
      <vt:lpstr>TED With Fixed Point Arithmetic</vt:lpstr>
      <vt:lpstr>Integration with GAUT</vt:lpstr>
      <vt:lpstr>Experiments &amp; Results</vt:lpstr>
      <vt:lpstr>Improvement over CSE and Original Design</vt:lpstr>
      <vt:lpstr>Part II: Data Structure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</dc:creator>
  <cp:lastModifiedBy>daniel</cp:lastModifiedBy>
  <cp:revision>145</cp:revision>
  <dcterms:created xsi:type="dcterms:W3CDTF">2011-08-09T18:19:33Z</dcterms:created>
  <dcterms:modified xsi:type="dcterms:W3CDTF">2011-08-28T03:36:06Z</dcterms:modified>
</cp:coreProperties>
</file>